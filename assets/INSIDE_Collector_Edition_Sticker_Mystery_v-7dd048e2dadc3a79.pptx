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00" r:id="rId51"/>
    <p:sldId id="272" r:id="rId18"/>
    <p:sldId id="301" r:id="rId52"/>
    <p:sldId id="273" r:id="rId19"/>
    <p:sldId id="274" r:id="rId20"/>
    <p:sldId id="275" r:id="rId21"/>
    <p:sldId id="276" r:id="rId22"/>
    <p:sldId id="277" r:id="rId23"/>
    <p:sldId id="278" r:id="rId24"/>
    <p:sldId id="302" r:id="rId53"/>
    <p:sldId id="279" r:id="rId25"/>
    <p:sldId id="280" r:id="rId26"/>
    <p:sldId id="281" r:id="rId27"/>
    <p:sldId id="303" r:id="rId54"/>
    <p:sldId id="282" r:id="rId28"/>
    <p:sldId id="283" r:id="rId29"/>
    <p:sldId id="284" r:id="rId30"/>
    <p:sldId id="285" r:id="rId31"/>
    <p:sldId id="286" r:id="rId32"/>
    <p:sldId id="304" r:id="rId55"/>
    <p:sldId id="305" r:id="rId56"/>
    <p:sldId id="287" r:id="rId33"/>
    <p:sldId id="288" r:id="rId34"/>
    <p:sldId id="289" r:id="rId35"/>
    <p:sldId id="290" r:id="rId36"/>
    <p:sldId id="306" r:id="rId57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8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8.xml"/><Relationship Id="rId34" Type="http://schemas.openxmlformats.org/officeDocument/2006/relationships/slide" Target="slides/slide39.xml"/><Relationship Id="rId35" Type="http://schemas.openxmlformats.org/officeDocument/2006/relationships/slide" Target="slides/slide40.xml"/><Relationship Id="rId36" Type="http://schemas.openxmlformats.org/officeDocument/2006/relationships/slide" Target="slides/slide41.xml"/><Relationship Id="rId37" Type="http://schemas.openxmlformats.org/officeDocument/2006/relationships/slide" Target="slides/slide43.xml"/><Relationship Id="rId38" Type="http://schemas.openxmlformats.org/officeDocument/2006/relationships/slide" Target="slides/slide44.xml"/><Relationship Id="rId39" Type="http://schemas.openxmlformats.org/officeDocument/2006/relationships/slide" Target="slides/slide45.xml"/><Relationship Id="rId40" Type="http://schemas.openxmlformats.org/officeDocument/2006/relationships/slide" Target="slides/slide46.xml"/><Relationship Id="rId41" Type="http://schemas.openxmlformats.org/officeDocument/2006/relationships/slide" Target="slides/slide47.xml"/><Relationship Id="rId42" Type="http://schemas.openxmlformats.org/officeDocument/2006/relationships/slide" Target="slides/slide48.xml"/><Relationship Id="rId43" Type="http://schemas.openxmlformats.org/officeDocument/2006/relationships/slide" Target="slides/slide49.xml"/><Relationship Id="rId44" Type="http://schemas.openxmlformats.org/officeDocument/2006/relationships/slide" Target="slides/slide50.xml"/><Relationship Id="rId45" Type="http://schemas.openxmlformats.org/officeDocument/2006/relationships/slide" Target="slides/slide51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slide" Target="slides/slide17.xml"/><Relationship Id="rId52" Type="http://schemas.openxmlformats.org/officeDocument/2006/relationships/slide" Target="slides/slide19.xml"/><Relationship Id="rId53" Type="http://schemas.openxmlformats.org/officeDocument/2006/relationships/slide" Target="slides/slide26.xml"/><Relationship Id="rId54" Type="http://schemas.openxmlformats.org/officeDocument/2006/relationships/slide" Target="slides/slide30.xml"/><Relationship Id="rId55" Type="http://schemas.openxmlformats.org/officeDocument/2006/relationships/slide" Target="slides/slide36.xml"/><Relationship Id="rId56" Type="http://schemas.openxmlformats.org/officeDocument/2006/relationships/slide" Target="slides/slide37.xml"/><Relationship Id="rId57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A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2"/>
          </a:solidFill>
          <a:ln w="12700">
            <a:solidFill>
              <a:srgbClr val="0A0F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334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6F7C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• COLLECTOR’S EDITION STICKER MYSTERY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>
              <a:alpha val="65000"/>
            </a:srgbClr>
          </a:solidFill>
          <a:ln w="12700">
            <a:solidFill>
              <a:srgbClr val="07101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2344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80" kern="0" dirty="0">
                <a:solidFill>
                  <a:srgbClr val="E53935"/>
                </a:solidFill>
              </a:rPr>
              <a:t>INSIDE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85800" y="201168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4F5"/>
                </a:solidFill>
              </a:rPr>
              <a:t>Collector’s Edition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2F4F5"/>
                </a:solidFill>
              </a:rPr>
              <a:t>Sticker Mystery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13232" y="3703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What I found, and what it might mean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58978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70" kern="0" dirty="0">
                <a:solidFill>
                  <a:srgbClr val="A6B0B5"/>
                </a:solidFill>
              </a:rPr>
              <a:t>Progress on the sticker code — not the sticker hunt</a:t>
            </a:r>
            <a:endParaRPr lang="en-US" sz="1050" dirty="0"/>
          </a:p>
        </p:txBody>
      </p:sp>
      <p:sp>
        <p:nvSpPr>
          <p:cNvPr id="8" name="TextBox 7"/>
          <p:cNvSpPr txBox="1"/>
          <p:nvPr/>
        </p:nvSpPr>
        <p:spPr>
          <a:xfrm>
            <a:off x="566928" y="5650992"/>
            <a:ext cx="56692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6B0B5"/>
                </a:solidFill>
                <a:latin typeface="Aptos"/>
              </a:rPr>
              <a:t>Closed-corpus mechanical crack • external semantic endpoint still open</a:t>
            </a:r>
          </a:p>
        </p:txBody>
      </p:sp>
      <p:sp>
        <p:nvSpPr>
          <p:cNvPr id="9" name="Vector 001"/>
          <p:cNvSpPr/>
          <p:nvPr/>
        </p:nvSpPr>
        <p:spPr>
          <a:xfrm>
            <a:off x="10535716" y="6557162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THE MYSTERY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strange extra, hidden in plain sight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Collector’s Edition shipped with hundreds of numbered stickers, each carrying one foreground symbol and one of nine background images.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74904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4015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foreground symbols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dot • dash • slash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331720" y="3401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background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image families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~600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3401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numbered copies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across the run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4434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</a:rPr>
              <a:t>The obvious interpretation was “a long message scattered across many copies.”</a:t>
            </a:r>
            <a:endParaRPr lang="en-US" sz="1600" dirty="0"/>
          </a:p>
        </p:txBody>
      </p:sp>
      <p:pic>
        <p:nvPicPr>
          <p:cNvPr id="14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892040" y="2103120"/>
            <a:ext cx="6629400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Vector 002"/>
          <p:cNvSpPr/>
          <p:nvPr/>
        </p:nvSpPr>
        <p:spPr>
          <a:xfrm>
            <a:off x="9945928" y="6443776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ector 003"/>
          <p:cNvSpPr/>
          <p:nvPr/>
        </p:nvSpPr>
        <p:spPr>
          <a:xfrm>
            <a:off x="10448848" y="6644944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COMMUNITY FOUNDATION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puzzles share the same sticker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background image puzzle is solved. The foreground-symbol puzzle is not.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50749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B0B5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301752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2666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36192" y="301752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302666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066544" y="301752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302666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354787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5701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36192" y="354787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6192" y="355701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066544" y="354787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355701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F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05840" y="407822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08736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536192" y="407822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36192" y="408736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066544" y="407822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66544" y="408736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97180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Nine pieces assemble into the printer image and lead onward into the ARG.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71800" y="4434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2B0"/>
                </a:solidFill>
              </a:rPr>
              <a:t>SOLVED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2240280"/>
            <a:ext cx="50749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B0B5"/>
                </a:solidFill>
              </a:rPr>
              <a:t>FOREGROUND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297180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98094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•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68312" y="297180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68312" y="298094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598664" y="297180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98664" y="298094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–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37960" y="350215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51129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–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68312" y="350215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68312" y="351129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•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598664" y="350215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98664" y="351129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537960" y="403250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04164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068312" y="403250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404164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–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598664" y="403250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98664" y="404164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•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50392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The dot, dash and slash sequence still has no established semantic decode.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03920" y="4434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</a:rPr>
              <a:t>UNSOLVED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50" name="Vector 004"/>
          <p:cNvSpPr/>
          <p:nvPr/>
        </p:nvSpPr>
        <p:spPr>
          <a:xfrm>
            <a:off x="10750600" y="6242608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ector 005"/>
          <p:cNvSpPr/>
          <p:nvPr/>
        </p:nvSpPr>
        <p:spPr>
          <a:xfrm>
            <a:off x="9845344" y="6544360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PUBLIC RECORD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community did the hard archival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Years of owner-finding, provenance tracking, image cleanup and ARG archaeology produced a corpus large enough to analyze structurally.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Numbered sticker ledger maintained publicly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Symbols classified as dot / dash / slash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Nine background image classes identified and solved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Lost, duplicate and provenance records tracked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Fresh Oddheader attention is still producing leads</a:t>
            </a:r>
            <a:endParaRPr lang="en-US" sz="1800" dirty="0"/>
          </a:p>
        </p:txBody>
      </p:sp>
      <p:pic>
        <p:nvPicPr>
          <p:cNvPr id="7" name="Image 0" descr="/mnt/data/ghostwriter_images/web_context/web_image_3a299de8be00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5943600" y="2148840"/>
            <a:ext cx="5440680" cy="3611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4F5"/>
                </a:solidFill>
              </a:rPr>
              <a:t>This deck starts where the public record becomes an analysis problem.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13232" y="5650992"/>
            <a:ext cx="10698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Current posture: treat the known corpus as closed. New stickers are bonus validation, not the critical path.</a:t>
            </a:r>
          </a:p>
        </p:txBody>
      </p:sp>
      <p:sp>
        <p:nvSpPr>
          <p:cNvPr id="27" name="Vector 006"/>
          <p:cNvSpPr/>
          <p:nvPr/>
        </p:nvSpPr>
        <p:spPr>
          <a:xfrm>
            <a:off x="10334548" y="5853074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THE OLD BOTTLENECK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years, the puzzle looked like a missing-data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symbols spell a long sequence, the obvious strategy is to recover more consecutive stickers.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MORE STICKERS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926080" y="2788920"/>
            <a:ext cx="17373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70916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LONGER SEQUENCE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406640" y="2788920"/>
            <a:ext cx="182880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8972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PLAINTEXT?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834640" y="37947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6B0B5"/>
                </a:solidFill>
              </a:rPr>
              <a:t>That model makes every missing sticker feel fatal.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4709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F4F5"/>
                </a:solidFill>
              </a:rPr>
              <a:t>The key question became: what if the stickers already found contain enough information?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13232" y="5212080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2F4F5"/>
                </a:solidFill>
                <a:latin typeface="Aptos"/>
              </a:rPr>
              <a:t>That question is now answerable without assuming another sticker will ever surface.</a:t>
            </a:r>
          </a:p>
        </p:txBody>
      </p:sp>
      <p:sp>
        <p:nvSpPr>
          <p:cNvPr id="27" name="Vector 007"/>
          <p:cNvSpPr/>
          <p:nvPr/>
        </p:nvSpPr>
        <p:spPr>
          <a:xfrm>
            <a:off x="10837468" y="5853074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ector 008"/>
          <p:cNvSpPr/>
          <p:nvPr/>
        </p:nvSpPr>
        <p:spPr>
          <a:xfrm>
            <a:off x="10837468" y="5953658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The first break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Compress the pictures until the structure has nowhere left to hide.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  <p:cxnSp>
        <p:nvCxnSpPr>
          <p:cNvPr id="7" name="Vector 009"/>
          <p:cNvCxnSpPr/>
          <p:nvPr/>
        </p:nvCxnSpPr>
        <p:spPr>
          <a:xfrm flipV="1">
            <a:off x="10538460" y="5829299"/>
            <a:ext cx="54864" cy="54865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CORPUS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starting point is 82 physical stickers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82 observations occupy 65 distinct positions after the strongest recurrence is applied.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43000" y="2944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classified physical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stickers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743200"/>
            <a:ext cx="12801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70916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09160" y="2944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unique H108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residues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03720" y="2743200"/>
            <a:ext cx="12801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75320" y="22860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75320" y="2944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positions in 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repeating master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4434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F5"/>
                </a:solidFill>
              </a:rPr>
              <a:t>Coverage after folding: 60.2%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57400" y="51663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The dataset stops looking sparse once repeated copies are aligned.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Vector 010"/>
          <p:cNvSpPr/>
          <p:nvPr/>
        </p:nvSpPr>
        <p:spPr>
          <a:xfrm>
            <a:off x="9845344" y="5840272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ector 011"/>
          <p:cNvSpPr/>
          <p:nvPr/>
        </p:nvSpPr>
        <p:spPr>
          <a:xfrm>
            <a:off x="10750600" y="5840272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NORMALIZATION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stickers are easier to study after they stop being pictures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observation is reduced to serial position, background class and foreground symbol, then aligned into a common coordinate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926080" cy="2926080"/>
          </a:xfrm>
          <a:prstGeom prst="roundRect">
            <a:avLst>
              <a:gd name="adj" fmla="val 156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B5"/>
                </a:solidFill>
              </a:rPr>
              <a:t>PHYSICAL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737360" y="306324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37360" y="361188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28600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F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8872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737360" y="416052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8600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4892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number + image tile + symbol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94760" y="3749040"/>
            <a:ext cx="91440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846320" y="2286000"/>
            <a:ext cx="2926080" cy="2926080"/>
          </a:xfrm>
          <a:prstGeom prst="roundRect">
            <a:avLst>
              <a:gd name="adj" fmla="val 156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B5"/>
                </a:solidFill>
              </a:rPr>
              <a:t>NORMALIZED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9788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46520" y="306324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34924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89788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46520" y="361188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34924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89788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983480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same native 3×3 geometry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09560" y="3749040"/>
            <a:ext cx="91440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961120" y="2286000"/>
            <a:ext cx="2514600" cy="2926080"/>
          </a:xfrm>
          <a:prstGeom prst="roundRect">
            <a:avLst>
              <a:gd name="adj" fmla="val 1818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B5"/>
                </a:solidFill>
              </a:rPr>
              <a:t>H108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372600" y="309067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72600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774936" y="309067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74936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0177272" y="3090672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77272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0579608" y="309067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79608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3493008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72600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774936" y="3493008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74936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0177272" y="3493008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177272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10579608" y="3493008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579608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372600" y="3895344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72600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9774936" y="3895344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74936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0177272" y="3895344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177272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10579608" y="3895344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579608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9372600" y="4297680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72600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9774936" y="42976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74936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10177272" y="42976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77272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10579608" y="42976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579608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9098280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recurrence becomes visible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85" name="Vector 012"/>
          <p:cNvSpPr/>
          <p:nvPr/>
        </p:nvSpPr>
        <p:spPr>
          <a:xfrm>
            <a:off x="9845344" y="6443776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06A • HUMAN CLUES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the algebra, the eye was already noticing things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of the best early clues were visual: diagonal splits, one-per-column behavior, and little clumps that looked too organized to be random.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3383280" cy="2880360"/>
          </a:xfrm>
          <a:prstGeom prst="roundRect">
            <a:avLst>
              <a:gd name="adj" fmla="val 158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60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DIAGONAL SPLITS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709928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9928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85416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5416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34440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09928" y="3401568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9928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185416" y="3401568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85416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34440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709928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09928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185416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85416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97480" y="2971800"/>
            <a:ext cx="1143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Several normalized clumps seemed to divide cleanly along a diagonal.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34840" y="2240280"/>
            <a:ext cx="3383280" cy="2880360"/>
          </a:xfrm>
          <a:prstGeom prst="roundRect">
            <a:avLst>
              <a:gd name="adj" fmla="val 158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REPEATING SPARSITY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67528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67528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843016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43016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892040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67528" y="3401568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67528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843016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43016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892040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367528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67528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843016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43016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355080" y="297180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Some frames looked less like free symbol art and more like constrained little diagrams.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092440" y="2240280"/>
            <a:ext cx="3383280" cy="2880360"/>
          </a:xfrm>
          <a:prstGeom prst="roundRect">
            <a:avLst>
              <a:gd name="adj" fmla="val 158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6760" y="2560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SAME SHAPE, NEW STICKER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549640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9640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025128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25128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500616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00616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549640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49640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025128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25128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500616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00616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8549640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49640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9025128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25128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x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9500616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00616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0012680" y="2971800"/>
            <a:ext cx="1143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Different physical stickers kept collapsing toward the same underlying pattern.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These visual hunches did not prove anything on their own. They were the moments that told me where to press next.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cxnSp>
        <p:nvCxnSpPr>
          <p:cNvPr id="70" name="Vector 013"/>
          <p:cNvCxnSpPr/>
          <p:nvPr/>
        </p:nvCxnSpPr>
        <p:spPr>
          <a:xfrm flipV="1">
            <a:off x="10136124" y="6231636"/>
            <a:ext cx="54863" cy="54864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BREAKTHROUGH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108-position recurrence snaps the copies into register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Stickers separated by 108, 216, 324 or 432 positions repeatedly land on the same underlying state.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H108 residues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multiple observations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pairwise repeated-position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comparisons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19/19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296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symbol agreements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across those comparisons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45262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The recurrence is the strongest empirical result in the investigation.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200400" y="5257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What it means semantically is still open.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Vector 014"/>
          <p:cNvSpPr/>
          <p:nvPr/>
        </p:nvSpPr>
        <p:spPr>
          <a:xfrm>
            <a:off x="9731044" y="6657746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07A • REPEATS YOU CAN POINT TO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H108 is not just a statistical abstraction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of the strongest evidence is easy to say out loud: different numbered stickers recur at the same logical residue and show the same symbol.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 = 231 = 339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69080" y="23865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E53935"/>
                </a:solidFill>
              </a:rPr>
              <a:t>SLASH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93208" y="23042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/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= 362 = 470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09760" y="23865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E53935"/>
                </a:solidFill>
              </a:rPr>
              <a:t>SLASH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33888" y="23042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/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68680" y="329184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 = 450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69080" y="34381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2F4F5"/>
                </a:solidFill>
              </a:rPr>
              <a:t>DASH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93208" y="33558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–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09360" y="329184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= 469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9760" y="34381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2F4F5"/>
                </a:solidFill>
              </a:rPr>
              <a:t>DASH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33888" y="33558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–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68680" y="434340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4712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= 334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69080" y="4489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2F4F5"/>
                </a:solidFill>
              </a:rPr>
              <a:t>DASH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93208" y="44074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–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309360" y="434340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= 248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09760" y="4489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E53935"/>
                </a:solidFill>
              </a:rPr>
              <a:t>SLASH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33888" y="44074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/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97280" y="5715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That is what “a 108-position master” means in concrete terms: distant physical stickers keep landing on the same underlying slot.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cxnSp>
        <p:nvCxnSpPr>
          <p:cNvPr id="31" name="Vector 015"/>
          <p:cNvCxnSpPr/>
          <p:nvPr/>
        </p:nvCxnSpPr>
        <p:spPr>
          <a:xfrm flipV="1">
            <a:off x="10437876" y="6332220"/>
            <a:ext cx="54863" cy="54864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ector 016"/>
          <p:cNvSpPr/>
          <p:nvPr/>
        </p:nvSpPr>
        <p:spPr>
          <a:xfrm>
            <a:off x="10549432" y="6343192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H108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3000" b="1">
                <a:solidFill>
                  <a:srgbClr val="F2F4F5"/>
                </a:solidFill>
                <a:latin typeface="Aptos Display"/>
              </a:rPr>
              <a:t>The same 108 cells can be viewed four 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coordinate systems, not three rival theories.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34747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2743200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55064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56232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58568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9736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0904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2072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4408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2728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53896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55064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6232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8568" y="2944368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59736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60904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62072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63240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4408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2728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53896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55064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56232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58568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59736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60904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62072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63240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64408" y="3145536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1560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52728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53896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55064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56232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57400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58568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59736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60904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62072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63240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64408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1560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52728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53896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55064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56232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057400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58568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459736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60904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62072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63240" y="3547872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64408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1560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52728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53896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55064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56232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57400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58568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59736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60904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62072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63240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64408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252728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453896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655064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56232" y="3950208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057400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258568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59736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60904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862072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63240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64408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51560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252728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453896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655064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856232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057400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258568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59736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660904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62072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63240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264408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51560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252728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453896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655064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856232" y="4352544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57400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258568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459736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660904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862072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063240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64408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554480" y="4846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12 × 9</a:t>
            </a:r>
            <a:endParaRPr lang="en-US" sz="2300" dirty="0"/>
          </a:p>
        </p:txBody>
      </p:sp>
      <p:sp>
        <p:nvSpPr>
          <p:cNvPr id="116" name="Text 114"/>
          <p:cNvSpPr/>
          <p:nvPr/>
        </p:nvSpPr>
        <p:spPr>
          <a:xfrm>
            <a:off x="1143000" y="5321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twelve 3×3 frames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4389120" y="2240280"/>
            <a:ext cx="34747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75488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860036" y="2926080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6519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07034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17550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8066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38581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49097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9612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70128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0644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1159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1675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2190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22706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33222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43737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4253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64768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5284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85800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96315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06831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17346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27862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38378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48893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75488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86003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965192" y="3031236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07034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17550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8066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8581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9097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59612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128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80644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91159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1675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2190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22706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33222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3737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54253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64768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75284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85800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96315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06831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7346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27862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38378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48893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75488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86003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96519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070348" y="3136392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17550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28066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38581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49097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59612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70128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80644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91159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01675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12190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22706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33222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43737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4253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4768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75284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5800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6315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6831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17346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27862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8378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8893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75488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86003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96519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07034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517550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528066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385816" y="3241548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549097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59612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70128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80644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591159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01675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12190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22706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33222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43737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54253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4768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75284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85800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96315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06831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17346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27862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38378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48893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5257800" y="4846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4 × 27</a:t>
            </a:r>
            <a:endParaRPr lang="en-US" sz="2300" dirty="0"/>
          </a:p>
        </p:txBody>
      </p:sp>
      <p:sp>
        <p:nvSpPr>
          <p:cNvPr id="227" name="Text 225"/>
          <p:cNvSpPr/>
          <p:nvPr/>
        </p:nvSpPr>
        <p:spPr>
          <a:xfrm>
            <a:off x="4846320" y="5321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four quarters / 27 cells each</a:t>
            </a:r>
            <a:endParaRPr lang="en-US" sz="1200" dirty="0"/>
          </a:p>
        </p:txBody>
      </p:sp>
      <p:sp>
        <p:nvSpPr>
          <p:cNvPr id="228" name="Shape 226"/>
          <p:cNvSpPr/>
          <p:nvPr/>
        </p:nvSpPr>
        <p:spPr>
          <a:xfrm>
            <a:off x="8092440" y="2240280"/>
            <a:ext cx="342900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836676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4 × 3 × 3 × 3</a:t>
            </a:r>
            <a:endParaRPr lang="en-US" sz="2600" dirty="0"/>
          </a:p>
        </p:txBody>
      </p:sp>
      <p:sp>
        <p:nvSpPr>
          <p:cNvPr id="230" name="Text 228"/>
          <p:cNvSpPr/>
          <p:nvPr/>
        </p:nvSpPr>
        <p:spPr>
          <a:xfrm>
            <a:off x="8915400" y="3703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quarter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× depth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× row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× column</a:t>
            </a:r>
            <a:endParaRPr lang="en-US" sz="1700" dirty="0"/>
          </a:p>
        </p:txBody>
      </p:sp>
      <p:sp>
        <p:nvSpPr>
          <p:cNvPr id="231" name="Text 229"/>
          <p:cNvSpPr/>
          <p:nvPr/>
        </p:nvSpPr>
        <p:spPr>
          <a:xfrm>
            <a:off x="8366760" y="50749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4F5"/>
                </a:solidFill>
              </a:rPr>
              <a:t>Ternary structure falls out naturally from the geometry.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32" name="Rectangle 231"/>
          <p:cNvSpPr/>
          <p:nvPr/>
        </p:nvSpPr>
        <p:spPr>
          <a:xfrm>
            <a:off x="8247888" y="2395728"/>
            <a:ext cx="3310128" cy="2971800"/>
          </a:xfrm>
          <a:prstGeom prst="rect">
            <a:avLst/>
          </a:prstGeom>
          <a:solidFill>
            <a:srgbClr val="10171B"/>
          </a:solidFill>
          <a:ln>
            <a:solidFill>
              <a:srgbClr val="10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458200" y="2651760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2F4F5"/>
                </a:solidFill>
                <a:latin typeface="Aptos Display"/>
              </a:rPr>
              <a:t>4 × 3 × 3 × 3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8458200" y="3419856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8897112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>
            <a:off x="8458200" y="385876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8458200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8567928" y="331012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9006840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8567928" y="3749039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8567928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8458200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8897112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8897112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8458200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Oval 245"/>
          <p:cNvSpPr/>
          <p:nvPr/>
        </p:nvSpPr>
        <p:spPr>
          <a:xfrm>
            <a:off x="8426196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8865108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8426196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8865108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8535924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8974836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535924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974836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503920" y="39959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6B0B5"/>
                </a:solidFill>
                <a:latin typeface="Aptos"/>
              </a:rPr>
              <a:t>Q1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9116568" y="3419856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9555480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>
            <a:off x="9116568" y="385876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9116568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226296" y="331012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665208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9226296" y="3749039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9226296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9116568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9555480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9555480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9116568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Oval 266"/>
          <p:cNvSpPr/>
          <p:nvPr/>
        </p:nvSpPr>
        <p:spPr>
          <a:xfrm>
            <a:off x="9084564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523476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9084564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9523476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9194292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9633204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9194292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9633204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9162288" y="39959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6B0B5"/>
                </a:solidFill>
                <a:latin typeface="Aptos"/>
              </a:rPr>
              <a:t>Q2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9774936" y="3419856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213848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H="1">
            <a:off x="9774936" y="385876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9774936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9884663" y="3310128"/>
            <a:ext cx="438913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0323576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H="1">
            <a:off x="9884663" y="3749039"/>
            <a:ext cx="438913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9884663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9774936" y="3310128"/>
            <a:ext cx="109727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10213848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10213848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9774936" y="3749039"/>
            <a:ext cx="109727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Oval 287"/>
          <p:cNvSpPr/>
          <p:nvPr/>
        </p:nvSpPr>
        <p:spPr>
          <a:xfrm>
            <a:off x="9742932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0181844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742932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81844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9852659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0291572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9852659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0291572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9820656" y="39959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6B0B5"/>
                </a:solidFill>
                <a:latin typeface="Aptos"/>
              </a:rPr>
              <a:t>Q3</a:t>
            </a:r>
          </a:p>
        </p:txBody>
      </p:sp>
      <p:cxnSp>
        <p:nvCxnSpPr>
          <p:cNvPr id="297" name="Connector 296"/>
          <p:cNvCxnSpPr/>
          <p:nvPr/>
        </p:nvCxnSpPr>
        <p:spPr>
          <a:xfrm>
            <a:off x="10433304" y="3419856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10872216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H="1">
            <a:off x="10433304" y="385876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10433304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0543032" y="331012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0981944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>
            <a:off x="10543032" y="3749039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10543032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10433304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10872216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10872216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10433304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Oval 308"/>
          <p:cNvSpPr/>
          <p:nvPr/>
        </p:nvSpPr>
        <p:spPr>
          <a:xfrm>
            <a:off x="10401300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0840212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0401300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840212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0511028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0949940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0511028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0949940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10479024" y="39959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6B0B5"/>
                </a:solidFill>
                <a:latin typeface="Aptos"/>
              </a:rPr>
              <a:t>Q4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503920" y="4370832"/>
            <a:ext cx="2788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four literal 3×3×3 quarter cubes
axes: depth × row × column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8522208" y="4919472"/>
            <a:ext cx="27614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2F4F5"/>
                </a:solidFill>
                <a:latin typeface="Aptos"/>
              </a:rPr>
              <a:t>coordinate system, not semantic proof</a:t>
            </a:r>
          </a:p>
        </p:txBody>
      </p:sp>
      <p:sp>
        <p:nvSpPr>
          <p:cNvPr id="320" name="Vector 017"/>
          <p:cNvSpPr/>
          <p:nvPr/>
        </p:nvSpPr>
        <p:spPr>
          <a:xfrm>
            <a:off x="10147096" y="6142024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EPISTEMIC GUARDRAIL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representation ≠ proven meaning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 genuinely factors into these useful shapes. That alone does not prove Playdead meant “base three,” “four quarters,” or any particular semantics.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" y="2990088"/>
            <a:ext cx="1874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Observed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82 stickers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81528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2424" y="2990088"/>
            <a:ext cx="1874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Repeated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41448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H108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94376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05272" y="2990088"/>
            <a:ext cx="1874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Structured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54296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native 3×3 / 4×27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07224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2990088"/>
            <a:ext cx="1874520" cy="0"/>
          </a:xfrm>
          <a:prstGeom prst="line">
            <a:avLst/>
          </a:prstGeom>
          <a:noFill/>
          <a:ln w="25400">
            <a:solidFill>
              <a:srgbClr val="5E6B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Mechanistic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67144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routing + selector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20072" y="2834640"/>
            <a:ext cx="310896" cy="310896"/>
          </a:xfrm>
          <a:prstGeom prst="ellipse">
            <a:avLst/>
          </a:prstGeom>
          <a:solidFill>
            <a:srgbClr val="11191E"/>
          </a:solidFill>
          <a:ln w="25400">
            <a:solidFill>
              <a:srgbClr val="5E6B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B0B5"/>
                </a:solidFill>
              </a:rPr>
              <a:t>Semantic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9992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still open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4800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</a:rPr>
              <a:t>This deck keeps structural claims and semantic guesses on different shelves.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49808" y="5687568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Mechanistic evidence now includes raw reconstruction and an explicit gauge quotient.</a:t>
            </a:r>
          </a:p>
        </p:txBody>
      </p:sp>
      <p:sp>
        <p:nvSpPr>
          <p:cNvPr id="27" name="Vector 018"/>
          <p:cNvSpPr/>
          <p:nvPr/>
        </p:nvSpPr>
        <p:spPr>
          <a:xfrm>
            <a:off x="10133380" y="5853074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ector 019"/>
          <p:cNvSpPr/>
          <p:nvPr/>
        </p:nvSpPr>
        <p:spPr>
          <a:xfrm>
            <a:off x="10435132" y="6557162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09A • LETTER-LIKE GHOSTS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 patterns looked like words before they looked like machinery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were valuable not because they solved the puzzle, but because they captured the exact kind of recognition a human solver would naturally have.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984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a compact, plausible-looking fragment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5876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another seductive completion of the same shape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4768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tempting because it seemed to continue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3544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3660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3660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striking, but structurally overcommitted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5166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The real question became: which readings keep surviving as choices are removed, and which ones only survive because we keep granting ourselves another choice?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Vector 020"/>
          <p:cNvSpPr/>
          <p:nvPr/>
        </p:nvSpPr>
        <p:spPr>
          <a:xfrm>
            <a:off x="10233964" y="5853074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3a299de8be00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The geometry starts behaving like machinery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Not characters first. States, selectors and routes.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  <p:sp>
        <p:nvSpPr>
          <p:cNvPr id="7" name="Vector 021"/>
          <p:cNvSpPr/>
          <p:nvPr/>
        </p:nvSpPr>
        <p:spPr>
          <a:xfrm>
            <a:off x="10147096" y="6041440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PRIMARY LATTICE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twelve frames compress to a remarkably small skeleton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cells are fixed. Only a few positions carry the remaining freedom.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55648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68296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8296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80944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93592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06240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18888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31536" y="2514600"/>
            <a:ext cx="612648" cy="61264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x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44184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43000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755648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55648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368296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68296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980944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593592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206240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818888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31536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044184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44184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143000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755648" y="3739896"/>
            <a:ext cx="612648" cy="61264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55648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y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368296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68296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980944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80944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3593592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93592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4206240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0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4818888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18888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5431536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31536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044184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44184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051560" y="47091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  212   0x0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212   002   100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1y2   022   100</a:t>
            </a:r>
            <a:endParaRPr lang="en-US" sz="1900" dirty="0"/>
          </a:p>
        </p:txBody>
      </p:sp>
      <p:sp>
        <p:nvSpPr>
          <p:cNvPr id="61" name="Shape 59"/>
          <p:cNvSpPr/>
          <p:nvPr/>
        </p:nvSpPr>
        <p:spPr>
          <a:xfrm>
            <a:off x="7452360" y="2514600"/>
            <a:ext cx="3474720" cy="2651760"/>
          </a:xfrm>
          <a:prstGeom prst="roundRect">
            <a:avLst>
              <a:gd name="adj" fmla="val 1724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09560" y="292608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∈ {1,2}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∈ {0,1,2}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[x = 2]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[y = 2]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7726680" y="4617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A large visual corpus reduces to a tiny family of legal states.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sp>
        <p:nvSpPr>
          <p:cNvPr id="64" name="Rounded Rectangle 63"/>
          <p:cNvSpPr/>
          <p:nvPr/>
        </p:nvSpPr>
        <p:spPr>
          <a:xfrm>
            <a:off x="6903720" y="5138928"/>
            <a:ext cx="4224528" cy="566928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14032" y="5257800"/>
            <a:ext cx="3794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Preferred exact-POS3 physical representative. Two unobserved pulse relocations are transition-invisible gauges.</a:t>
            </a:r>
          </a:p>
        </p:txBody>
      </p:sp>
      <p:sp>
        <p:nvSpPr>
          <p:cNvPr id="66" name="Vector 022"/>
          <p:cNvSpPr/>
          <p:nvPr/>
        </p:nvSpPr>
        <p:spPr>
          <a:xfrm>
            <a:off x="10535716" y="5953658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10A • RAW PRIMARY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Most of the primary lattice is forced before the machine is assumed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Under the positional grammar, the observed marks leave very little room to move.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286000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E53935"/>
                </a:solidFill>
                <a:latin typeface="Aptos Display"/>
              </a:rPr>
              <a:t>8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98648"/>
            <a:ext cx="2139696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frame polarities forced by raw 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331720"/>
            <a:ext cx="2286000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478024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F2F4F5"/>
                </a:solidFill>
                <a:latin typeface="Aptos Display"/>
              </a:rPr>
              <a:t>25 /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898648"/>
            <a:ext cx="2139696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primary trits forced once the staircase is derived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331720"/>
            <a:ext cx="2286000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478024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F2F4F5"/>
                </a:solidFill>
                <a:latin typeface="Aptos Display"/>
              </a:rPr>
              <a:t>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2898648"/>
            <a:ext cx="2139696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observed primary residues form the unique minimum raw witness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331720"/>
            <a:ext cx="3337560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478024"/>
            <a:ext cx="3337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F2F4F5"/>
                </a:solidFill>
                <a:latin typeface="Aptos Display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898648"/>
            <a:ext cx="3191256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exact-POS3 states survive recursive closure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41648"/>
            <a:ext cx="10744200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279392"/>
            <a:ext cx="48006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2F4F5"/>
                </a:solidFill>
                <a:latin typeface="Aptos"/>
              </a:rPr>
              <a:t>The final ambiguous polarity is not guessed. The alternate branch produces 12 raw payloads × 36 selectors and zero first-pass survivors.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4279392"/>
            <a:ext cx="4919472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6B0B5"/>
                </a:solidFill>
                <a:latin typeface="Aptos"/>
              </a:rPr>
              <a:t>A weaker composite authoring grammar (Experiment 293) also collapses to the same fourteen exact-POS3 states. It is a valid derivation, just less human-simple.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50992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Courier New"/>
              </a:rPr>
              <a:t>Experiments 246–247, 259, 277, 293</a:t>
            </a:r>
          </a:p>
        </p:txBody>
      </p:sp>
      <p:sp>
        <p:nvSpPr>
          <p:cNvPr id="22" name="Vector 023"/>
          <p:cNvSpPr/>
          <p:nvPr/>
        </p:nvSpPr>
        <p:spPr>
          <a:xfrm>
            <a:off x="10535716" y="6154826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ector 024"/>
          <p:cNvSpPr/>
          <p:nvPr/>
        </p:nvSpPr>
        <p:spPr>
          <a:xfrm>
            <a:off x="10851184" y="6443776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11 • Q4 SELECTOR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other quarter supplies an abstract ternary depth selector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useful object is S(j): one exceptional depth in each three-cell stack. Slash/dot polarity is a physical representation choice.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404872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S =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2267712"/>
            <a:ext cx="512064" cy="512064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2359152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96896" y="2267712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96896" y="2359152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73552" y="2267712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73552" y="2359152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118104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S =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2980944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3072384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96896" y="2980944"/>
            <a:ext cx="512064" cy="512064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96896" y="3072384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73552" y="2980944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73552" y="3072384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3831335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S =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3694176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3785616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96896" y="3694176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96896" y="3785616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73552" y="3694176"/>
            <a:ext cx="512064" cy="512064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73552" y="3785616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24528" y="2359152"/>
            <a:ext cx="6583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2F4F5"/>
                </a:solidFill>
                <a:latin typeface="Aptos Display"/>
              </a:rPr>
              <a:t>Functionally: “choose depth S in this stack.”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24528" y="3063240"/>
            <a:ext cx="65379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A6B0B5"/>
                </a:solidFill>
                <a:latin typeface="Aptos"/>
              </a:rPr>
              <a:t>That selector survives even when the printed slash/dot polarity is allowed to vary independently. The all-slash rendering remains the cleanest physical representative, not a functional axiom.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24528" y="4315968"/>
            <a:ext cx="6492240" cy="914400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62272" y="4507992"/>
            <a:ext cx="60167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2F4F5"/>
                </a:solidFill>
                <a:latin typeface="Aptos"/>
              </a:rPr>
              <a:t>Held-out Q4 marks later reconstruct the one-exception codebook under simple shared-codebook symmetries. The remaining ambiguity is localized to unobserved gauge cells.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" y="5687568"/>
            <a:ext cx="105156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Courier New"/>
              </a:rPr>
              <a:t>Experiments 260, 270, 281, 292, 294, 295</a:t>
            </a:r>
          </a:p>
        </p:txBody>
      </p:sp>
      <p:sp>
        <p:nvSpPr>
          <p:cNvPr id="56" name="Vector 025"/>
          <p:cNvSpPr/>
          <p:nvPr/>
        </p:nvSpPr>
        <p:spPr>
          <a:xfrm>
            <a:off x="9744760" y="5940856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11A • Q4 GAUGE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Q4 polarity freedom is literally a three-bit cube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A, C and coupled F+I flips span the raw-compatible polarity gauge. Routing selects a face, not a single printed pattern.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2990088"/>
            <a:ext cx="1874520" cy="0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2990088"/>
            <a:ext cx="0" cy="1874519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97280" y="4864607"/>
            <a:ext cx="1874520" cy="0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2990088"/>
            <a:ext cx="0" cy="1874519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64207" y="2423160"/>
            <a:ext cx="1874521" cy="0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38728" y="2423160"/>
            <a:ext cx="0" cy="1874519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664207" y="4297679"/>
            <a:ext cx="1874521" cy="0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64207" y="2423160"/>
            <a:ext cx="0" cy="1874519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97280" y="2423160"/>
            <a:ext cx="566927" cy="566928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971800" y="2423160"/>
            <a:ext cx="566928" cy="566928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971800" y="4297679"/>
            <a:ext cx="566928" cy="566928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97280" y="4297679"/>
            <a:ext cx="566927" cy="566928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65276" y="2958084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9077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0</a:t>
            </a:r>
          </a:p>
        </p:txBody>
      </p:sp>
      <p:sp>
        <p:nvSpPr>
          <p:cNvPr id="20" name="Oval 19"/>
          <p:cNvSpPr/>
          <p:nvPr/>
        </p:nvSpPr>
        <p:spPr>
          <a:xfrm>
            <a:off x="2939796" y="2958084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29077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1065276" y="4832603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78231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2939796" y="4832603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478231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A+C</a:t>
            </a:r>
          </a:p>
        </p:txBody>
      </p:sp>
      <p:sp>
        <p:nvSpPr>
          <p:cNvPr id="26" name="Oval 25"/>
          <p:cNvSpPr/>
          <p:nvPr/>
        </p:nvSpPr>
        <p:spPr>
          <a:xfrm>
            <a:off x="1632204" y="23911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9928" y="23408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F+I</a:t>
            </a:r>
          </a:p>
        </p:txBody>
      </p:sp>
      <p:sp>
        <p:nvSpPr>
          <p:cNvPr id="28" name="Oval 27"/>
          <p:cNvSpPr/>
          <p:nvPr/>
        </p:nvSpPr>
        <p:spPr>
          <a:xfrm>
            <a:off x="3506724" y="23911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23408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A+F+I</a:t>
            </a:r>
          </a:p>
        </p:txBody>
      </p:sp>
      <p:sp>
        <p:nvSpPr>
          <p:cNvPr id="30" name="Oval 29"/>
          <p:cNvSpPr/>
          <p:nvPr/>
        </p:nvSpPr>
        <p:spPr>
          <a:xfrm>
            <a:off x="1632204" y="426567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09928" y="4215383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C+F+I</a:t>
            </a:r>
          </a:p>
        </p:txBody>
      </p:sp>
      <p:sp>
        <p:nvSpPr>
          <p:cNvPr id="32" name="Oval 31"/>
          <p:cNvSpPr/>
          <p:nvPr/>
        </p:nvSpPr>
        <p:spPr>
          <a:xfrm>
            <a:off x="3506724" y="426567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4448" y="4215383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A+C+F+I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074920"/>
            <a:ext cx="3520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E53935"/>
                </a:solidFill>
                <a:latin typeface="Aptos"/>
              </a:rPr>
              <a:t>highlighted face: F+I =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2286000"/>
            <a:ext cx="61722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F2F4F5"/>
                </a:solidFill>
                <a:latin typeface="Aptos Display"/>
              </a:rPr>
              <a:t>Experiment 292: four maximum 14-state route-capable gauges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36592" y="2907792"/>
            <a:ext cx="5897880" cy="4389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9472" y="2999232"/>
            <a:ext cx="685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  <a:latin typeface="Courier New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999232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all-slash representative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2999232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preferred physical origin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36592" y="3474720"/>
            <a:ext cx="5897880" cy="4389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19472" y="3566160"/>
            <a:ext cx="685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  <a:latin typeface="Courier New"/>
              </a:rP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66160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A stack polarity flip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566160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A is unobserved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36592" y="4041648"/>
            <a:ext cx="5897880" cy="4389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19472" y="4133087"/>
            <a:ext cx="685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  <a:latin typeface="Courier New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133087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C stack polarity flip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4133087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C is unobserved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36592" y="4608576"/>
            <a:ext cx="5897880" cy="4389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19472" y="4700016"/>
            <a:ext cx="685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  <a:latin typeface="Courier New"/>
              </a:rPr>
              <a:t>A+C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700016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both unobserved flips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4700016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same functional route shell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36592" y="5349240"/>
            <a:ext cx="58978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Why prefer 0? It uniquely minimizes physical domain walls and restores the whole-master 54/36/18 = 3:2:1 symbol census.</a:t>
            </a:r>
          </a:p>
        </p:txBody>
      </p:sp>
      <p:sp>
        <p:nvSpPr>
          <p:cNvPr id="53" name="Vector 026"/>
          <p:cNvSpPr/>
          <p:nvPr/>
        </p:nvSpPr>
        <p:spPr>
          <a:xfrm>
            <a:off x="9845344" y="6041440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ector 027"/>
          <p:cNvSpPr/>
          <p:nvPr/>
        </p:nvSpPr>
        <p:spPr>
          <a:xfrm>
            <a:off x="9932212" y="6355994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12 • SHARED PRIMITIVE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One positional primitive does two different jobs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Both halves encode a ternary value by the position of an exceptional member in a three-way group.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2286000"/>
            <a:ext cx="5074920" cy="297180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2542032"/>
            <a:ext cx="4617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4F5"/>
                </a:solidFill>
                <a:latin typeface="Aptos Display"/>
              </a:rPr>
              <a:t>PRIMARY • one exception per physical column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25880" y="3154680"/>
            <a:ext cx="658368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322783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25880" y="3685032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3758183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" y="4215384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5880" y="42885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3154680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40280" y="322783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0280" y="3685032"/>
            <a:ext cx="658368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40280" y="3758183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40280" y="4215384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40280" y="42885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54680" y="3154680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54680" y="322783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3685032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4680" y="3758183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4215384"/>
            <a:ext cx="658368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54680" y="42885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42232" y="3127248"/>
            <a:ext cx="1298448" cy="1417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A6B0B5"/>
                </a:solidFill>
                <a:latin typeface="Aptos"/>
              </a:rPr>
              <a:t>exception
position
→ ternary
value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62472" y="2286000"/>
            <a:ext cx="5074920" cy="297180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2542032"/>
            <a:ext cx="4617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4F5"/>
                </a:solidFill>
                <a:latin typeface="Aptos Display"/>
              </a:rPr>
              <a:t>Q4 • one exceptional depth per stack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3154680"/>
            <a:ext cx="54864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40" y="3227832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07223" y="3154680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07223" y="3227832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93608" y="3154680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93608" y="3227832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20840" y="3685032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20840" y="3758183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07223" y="3685032"/>
            <a:ext cx="54864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07223" y="3758183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93608" y="3685032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93608" y="3758183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0840" y="4215384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20840" y="4288536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07223" y="4215384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07223" y="4288536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93608" y="4215384"/>
            <a:ext cx="54864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93608" y="4288536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09760" y="3127248"/>
            <a:ext cx="1298448" cy="1417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A6B0B5"/>
                </a:solidFill>
                <a:latin typeface="Aptos"/>
              </a:rPr>
              <a:t>exception
depth
→ selector
S(j)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8" y="566928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Same positional alphabet. Different role. That economy is evidence, not semantics.</a:t>
            </a:r>
          </a:p>
        </p:txBody>
      </p:sp>
      <p:sp>
        <p:nvSpPr>
          <p:cNvPr id="73" name="Vector 028"/>
          <p:cNvSpPr/>
          <p:nvPr/>
        </p:nvSpPr>
        <p:spPr>
          <a:xfrm>
            <a:off x="10750600" y="6644944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• THE CONTROL RELATION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binary requests collapse to one of three grants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x and y are reduced to “is this the high state?”, the surviving combinations obey a tiny arbitration 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80060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B0B5"/>
                </a:solidFill>
              </a:rPr>
              <a:t>REQUEST (X,Y)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B0B5"/>
                </a:solidFill>
              </a:rPr>
              <a:t>GRANT 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063240" y="3227832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88620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935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063240" y="3758184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886200" y="3593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1239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063240" y="4288536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886200" y="41239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654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063240" y="4818888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886200" y="46542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or 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63640" y="2743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This is exactly the shape of a priority-free two-request mutual-exclusion arbiter.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6263640" y="3977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No request → middle. One request → that side. Two requests → either side.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797296" y="5257800"/>
            <a:ext cx="4892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This relation now emerges from raw-compatible closure; it is not supplied as a lookup table.</a:t>
            </a:r>
          </a:p>
        </p:txBody>
      </p:sp>
      <p:sp>
        <p:nvSpPr>
          <p:cNvPr id="27" name="Vector 029"/>
          <p:cNvSpPr/>
          <p:nvPr/>
        </p:nvSpPr>
        <p:spPr>
          <a:xfrm>
            <a:off x="10133380" y="6456578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14 • REINDEX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route orientation q = 2 − p is recoverable, not assumed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210 reversal is useful bookkeeping; the stronger point is that the route shell later selects its own orientation.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278892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2F4F5"/>
                </a:solidFill>
                <a:latin typeface="Courier New"/>
              </a:rP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26280" y="2944368"/>
            <a:ext cx="1280160" cy="0"/>
          </a:xfrm>
          <a:prstGeom prst="line">
            <a:avLst/>
          </a:prstGeom>
          <a:ln w="2794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828032" y="2505456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A6B0B5"/>
                </a:solidFill>
                <a:latin typeface="Courier New"/>
              </a:rPr>
              <a:t>2 − 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78892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2F4F5"/>
                </a:solidFill>
                <a:latin typeface="Courier New"/>
              </a:rPr>
              <a:t>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4968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3977639"/>
            <a:ext cx="9738360" cy="91440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98448" y="4224528"/>
            <a:ext cx="91440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A6B0B5"/>
                </a:solidFill>
                <a:latin typeface="Aptos"/>
              </a:rPr>
              <a:t>Experiment 278 closes the loop: among 27 q-indexed route choices, requiring three distinct ternary permutations leaves exactly one orientation and the shell 120 / 012 / 102.</a:t>
            </a:r>
          </a:p>
        </p:txBody>
      </p:sp>
      <p:sp>
        <p:nvSpPr>
          <p:cNvPr id="42" name="Vector 030"/>
          <p:cNvSpPr/>
          <p:nvPr/>
        </p:nvSpPr>
        <p:spPr>
          <a:xfrm>
            <a:off x="9945928" y="6544360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• ROUTE TABLE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states become three permutations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Completing the Q3 rows produces an exact three-state routing shell.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542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q0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37744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38658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78608" y="237744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238658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36976" y="237744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238658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51960" y="25146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4F5"/>
                </a:solidFill>
              </a:rPr>
              <a:t>transposition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547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q1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20240" y="338328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39242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78608" y="338328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339242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36976" y="338328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339242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51960" y="35204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4F5"/>
                </a:solidFill>
              </a:rPr>
              <a:t>identity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5537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q2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920240" y="4389120"/>
            <a:ext cx="658368" cy="6583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439826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578608" y="4389120"/>
            <a:ext cx="658368" cy="6583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439826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236976" y="4389120"/>
            <a:ext cx="658368" cy="6583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36976" y="439826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51960" y="45262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3-cycle / derangement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80960" y="2834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/ 012 / 120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7360920" y="379476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Together with the opposite 3-cycle already present elsewhere, the route layer generates S₃, the symmetry group of a triangle.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6995160" y="3822191"/>
            <a:ext cx="4160520" cy="1335024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42048" y="4023360"/>
            <a:ext cx="367588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4F5"/>
                </a:solidFill>
                <a:latin typeface="Aptos Display"/>
              </a:rPr>
              <a:t>27 candidate route shells</a:t>
            </a:r>
          </a:p>
        </p:txBody>
      </p:sp>
      <p:sp>
        <p:nvSpPr>
          <p:cNvPr id="34" name="Oval 33"/>
          <p:cNvSpPr/>
          <p:nvPr/>
        </p:nvSpPr>
        <p:spPr>
          <a:xfrm>
            <a:off x="7360920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08392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55864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03336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50808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98280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445752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93224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40696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60920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08392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055864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03336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50808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8280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445752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93224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140696" y="4709160"/>
            <a:ext cx="73152" cy="7315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360920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708392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055864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403336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750808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098280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445752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793224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140696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33488" y="5102352"/>
            <a:ext cx="36118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A6B0B5"/>
                </a:solidFill>
                <a:latin typeface="Aptos"/>
              </a:rPr>
              <a:t>distinct permutations → exactly 1</a:t>
            </a:r>
          </a:p>
        </p:txBody>
      </p:sp>
      <p:sp>
        <p:nvSpPr>
          <p:cNvPr id="62" name="Vector 031"/>
          <p:cNvSpPr/>
          <p:nvPr/>
        </p:nvSpPr>
        <p:spPr>
          <a:xfrm>
            <a:off x="10851184" y="6142024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ector 032"/>
          <p:cNvSpPr/>
          <p:nvPr/>
        </p:nvSpPr>
        <p:spPr>
          <a:xfrm>
            <a:off x="9932212" y="6657746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• ENDPOINT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route class is uniquely loopless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q2 / 120 has no fixed point. Reindexed back into p-order, that certificate is 100.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= 120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794760" y="2514600"/>
            <a:ext cx="502920" cy="502920"/>
          </a:xfrm>
          <a:prstGeom prst="ellipse">
            <a:avLst/>
          </a:prstGeom>
          <a:solidFill>
            <a:srgbClr val="11191E"/>
          </a:solidFill>
          <a:ln w="19050">
            <a:solidFill>
              <a:srgbClr val="F2F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26151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</a:rPr>
              <a:t>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57800" y="1874520"/>
            <a:ext cx="502920" cy="502920"/>
          </a:xfrm>
          <a:prstGeom prst="ellipse">
            <a:avLst/>
          </a:prstGeom>
          <a:solidFill>
            <a:srgbClr val="11191E"/>
          </a:solidFill>
          <a:ln w="19050">
            <a:solidFill>
              <a:srgbClr val="F2F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975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257800" y="3200400"/>
            <a:ext cx="502920" cy="502920"/>
          </a:xfrm>
          <a:prstGeom prst="ellipse">
            <a:avLst/>
          </a:prstGeom>
          <a:solidFill>
            <a:srgbClr val="11191E"/>
          </a:solidFill>
          <a:ln w="19050">
            <a:solidFill>
              <a:srgbClr val="F2F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33009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97680" y="2697480"/>
            <a:ext cx="932688" cy="-521208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0" y="2395728"/>
            <a:ext cx="0" cy="758952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30368" y="3401568"/>
            <a:ext cx="-914400" cy="-530352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84048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no node maps to itself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2743200"/>
            <a:ext cx="123444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955280" y="23591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90956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terminal certificate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4892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F5"/>
                </a:solidFill>
              </a:rPr>
              <a:t>The surprising endpoint is not readable text. It is a distinguished machine state.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995160" y="4892040"/>
            <a:ext cx="4041648" cy="594360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5472" y="5038344"/>
            <a:ext cx="36210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A terminal certificate, not a supplied stop rule.</a:t>
            </a:r>
          </a:p>
        </p:txBody>
      </p:sp>
      <p:cxnSp>
        <p:nvCxnSpPr>
          <p:cNvPr id="28" name="Vector 033"/>
          <p:cNvCxnSpPr/>
          <p:nvPr/>
        </p:nvCxnSpPr>
        <p:spPr>
          <a:xfrm flipV="1">
            <a:off x="9934956" y="6131051"/>
            <a:ext cx="54863" cy="54865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16A • THE DIAGONAL KEPT COMING BACK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visual motif turned out to matter for real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first looked like a recurring visual habit later became part of the short, human-executable path to the terminal 100 state.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154680" cy="2514600"/>
          </a:xfrm>
          <a:prstGeom prst="roundRect">
            <a:avLst>
              <a:gd name="adj" fmla="val 1818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EARLY VISUAL TUG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29992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0083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91640" y="29992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0083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48840" y="29992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30083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34440" y="3456432"/>
            <a:ext cx="457200" cy="45720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465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691640" y="34564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3465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148840" y="34564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465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34440" y="39136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91640" y="39136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148840" y="39136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97480" y="30632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Clumps kept seeming to organize themselves around diagonals.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51960" y="3566160"/>
            <a:ext cx="731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20640" y="2331720"/>
            <a:ext cx="2788920" cy="2514600"/>
          </a:xfrm>
          <a:prstGeom prst="roundRect">
            <a:avLst>
              <a:gd name="adj" fmla="val 1818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DIRECT STACK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29260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9352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071616" y="29260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29352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?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73952" y="2926080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29352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669280" y="3328416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33756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?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071616" y="3328416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333756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73952" y="3328416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333756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669280" y="373075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373989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071616" y="373075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373989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473952" y="373075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73989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812280" y="3017520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2F4F5"/>
                </a:solidFill>
              </a:rPr>
              <a:t>Once frames 1, 5 and 9 are stacked through Q4, the diagonal almost empties itself.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183880" y="3566160"/>
            <a:ext cx="731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052560" y="2331720"/>
            <a:ext cx="2240280" cy="2514600"/>
          </a:xfrm>
          <a:prstGeom prst="roundRect">
            <a:avLst>
              <a:gd name="adj" fmla="val 2041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8116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FORCED RESULT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464040" y="2907792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64040" y="291693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884664" y="2907792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84664" y="291693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0305288" y="2907792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05288" y="291693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464040" y="3328416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64040" y="33375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884664" y="3328416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84664" y="33375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0305288" y="3328416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305288" y="33375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9464040" y="374904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64040" y="375818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9884664" y="374904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84664" y="375818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10305288" y="374904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305288" y="375818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9829800" y="42976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1097280" y="5486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This is one of the best payoffs in the project: a vague visual hunch eventually became part of the actual mechanism.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  <p:sp>
        <p:nvSpPr>
          <p:cNvPr id="72" name="Vector 034"/>
          <p:cNvSpPr/>
          <p:nvPr/>
        </p:nvSpPr>
        <p:spPr>
          <a:xfrm>
            <a:off x="10549432" y="6242608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16B • TERMINAL DYNAMICS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100 is a fixed point; 102 is only one phase of a two-cycle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Repeatedly reuse the same selector. The two maximum-retention branches separate cleanly by their long-run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5074920" cy="2331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706624"/>
            <a:ext cx="4572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497F7A"/>
                </a:solidFill>
                <a:latin typeface="Aptos"/>
              </a:rPr>
              <a:t>STABLE BRANCHES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3337560"/>
            <a:ext cx="841248" cy="566928"/>
          </a:xfrm>
          <a:prstGeom prst="roundRect">
            <a:avLst/>
          </a:prstGeom>
          <a:solidFill>
            <a:srgbClr val="497F7A"/>
          </a:solidFill>
          <a:ln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12264" y="3621024"/>
            <a:ext cx="374904" cy="0"/>
          </a:xfrm>
          <a:prstGeom prst="line">
            <a:avLst/>
          </a:prstGeom>
          <a:ln w="19050">
            <a:solidFill>
              <a:srgbClr val="A6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60320" y="3337560"/>
            <a:ext cx="841248" cy="566928"/>
          </a:xfrm>
          <a:prstGeom prst="roundRect">
            <a:avLst/>
          </a:prstGeom>
          <a:solidFill>
            <a:srgbClr val="497F7A"/>
          </a:solidFill>
          <a:ln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38144" y="3621024"/>
            <a:ext cx="374904" cy="0"/>
          </a:xfrm>
          <a:prstGeom prst="line">
            <a:avLst/>
          </a:prstGeom>
          <a:ln w="19050">
            <a:solidFill>
              <a:srgbClr val="A6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86200" y="3337560"/>
            <a:ext cx="841248" cy="566928"/>
          </a:xfrm>
          <a:prstGeom prst="roundRect">
            <a:avLst/>
          </a:prstGeom>
          <a:solidFill>
            <a:srgbClr val="497F7A"/>
          </a:solidFill>
          <a:ln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24528"/>
            <a:ext cx="4480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100 → 100 under continued recursion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23160"/>
            <a:ext cx="5074920" cy="2331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706624"/>
            <a:ext cx="4572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B08742"/>
                </a:solidFill>
                <a:latin typeface="Aptos"/>
              </a:rPr>
              <a:t>UNSTABLE SIBLINGS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337560"/>
            <a:ext cx="841248" cy="566928"/>
          </a:xfrm>
          <a:prstGeom prst="roundRect">
            <a:avLst/>
          </a:prstGeom>
          <a:solidFill>
            <a:srgbClr val="B08742"/>
          </a:solidFill>
          <a:ln w="12700">
            <a:solidFill>
              <a:srgbClr val="B08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07224" y="3621024"/>
            <a:ext cx="374903" cy="0"/>
          </a:xfrm>
          <a:prstGeom prst="line">
            <a:avLst/>
          </a:prstGeom>
          <a:ln w="19050">
            <a:solidFill>
              <a:srgbClr val="A6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55279" y="3337560"/>
            <a:ext cx="841248" cy="566928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B08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33104" y="3621024"/>
            <a:ext cx="374903" cy="0"/>
          </a:xfrm>
          <a:prstGeom prst="line">
            <a:avLst/>
          </a:prstGeom>
          <a:ln w="19050">
            <a:solidFill>
              <a:srgbClr val="A6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81160" y="3337560"/>
            <a:ext cx="841248" cy="566928"/>
          </a:xfrm>
          <a:prstGeom prst="roundRect">
            <a:avLst/>
          </a:prstGeom>
          <a:solidFill>
            <a:srgbClr val="B08742"/>
          </a:solidFill>
          <a:ln w="12700">
            <a:solidFill>
              <a:srgbClr val="B08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24528"/>
            <a:ext cx="4480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102 ↔ 100 forever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30368"/>
            <a:ext cx="10469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Experiments 279 and 284 make fixed-point stability the substantive endpoint discriminator.</a:t>
            </a:r>
          </a:p>
        </p:txBody>
      </p:sp>
      <p:sp>
        <p:nvSpPr>
          <p:cNvPr id="29" name="Vector 035"/>
          <p:cNvSpPr/>
          <p:nvPr/>
        </p:nvSpPr>
        <p:spPr>
          <a:xfrm>
            <a:off x="10549432" y="6443776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• DIRECT CONSTRUCTION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100 appears without the deep algebra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only frames 1, 5 and 9 plus the Q4 selector, the diagonal stacks force a unique legal one-hot output.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72768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31136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950208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08576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27648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986016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863840" y="2971800"/>
            <a:ext cx="8686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15400" y="246888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247802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482328" y="246888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82328" y="247802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049256" y="246888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49256" y="247802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915400" y="3035808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30449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482328" y="3035808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82328" y="30449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049256" y="3035808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49256" y="30449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915400" y="3602736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36118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482328" y="3602736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82328" y="36118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049256" y="3602736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49256" y="36118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89720" y="4343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005840" y="52578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This is the short human path: registration → diagonal frames → Q4 selection → empty diagonal → one-hot legality → 100.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49808" y="5650992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Still the shortest visual endpoint proof. Deeper inverse searches now justify why these address operations are allowed.</a:t>
            </a:r>
          </a:p>
        </p:txBody>
      </p:sp>
      <p:sp>
        <p:nvSpPr>
          <p:cNvPr id="49" name="Vector 036"/>
          <p:cNvSpPr/>
          <p:nvPr/>
        </p:nvSpPr>
        <p:spPr>
          <a:xfrm>
            <a:off x="9945928" y="6242608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• CANONICALIZATION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 reuse erases state by ordinary aliasing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selector choices become irrelevant when they point to equal source bits.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95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2395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1 /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3957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minority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072384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1821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3182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1 /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1821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majority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858768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684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74520" y="3968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0 /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9684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majority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645152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754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74520" y="4754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0 /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4754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minority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2514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Multiple physical states → the same terminal output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17920" y="347472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6B0B5"/>
                </a:solidFill>
              </a:rPr>
              <a:t>The “reset” does not need a mystical checksum. It falls out of a multiplexer choosing between equal values.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0" y="4800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That is why the mechanism can preserve a rich observer state while collapsing the causal path.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629400" y="4892040"/>
            <a:ext cx="4498848" cy="658368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5029200"/>
            <a:ext cx="40782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State canonicalization ≠ physical completion gauge. The first erases causal distinctions; the second changes unobserved artwork without changing behavior.</a:t>
            </a:r>
          </a:p>
        </p:txBody>
      </p:sp>
      <p:cxnSp>
        <p:nvCxnSpPr>
          <p:cNvPr id="28" name="Vector 037"/>
          <p:cNvCxnSpPr/>
          <p:nvPr/>
        </p:nvCxnSpPr>
        <p:spPr>
          <a:xfrm flipV="1">
            <a:off x="10337292" y="6633972"/>
            <a:ext cx="54863" cy="54864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19 • STATE COMPRESSION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machine forgets information; the artwork retains gauge freedom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Those are two different kinds of multiplicity, and the counts should never be mixed.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2304288"/>
            <a:ext cx="5166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497F7A"/>
                </a:solidFill>
                <a:latin typeface="Aptos"/>
              </a:rPr>
              <a:t>FUNCTIONAL INFORMATION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2788920"/>
            <a:ext cx="658368" cy="658368"/>
          </a:xfrm>
          <a:prstGeom prst="ellipse">
            <a:avLst/>
          </a:prstGeom>
          <a:solidFill>
            <a:srgbClr val="10171B"/>
          </a:solidFill>
          <a:ln w="17780"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96265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538728"/>
            <a:ext cx="950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hidden states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618488" y="3118104"/>
            <a:ext cx="301752" cy="0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993391" y="2788920"/>
            <a:ext cx="658368" cy="658368"/>
          </a:xfrm>
          <a:prstGeom prst="ellipse">
            <a:avLst/>
          </a:prstGeom>
          <a:solidFill>
            <a:srgbClr val="10171B"/>
          </a:solidFill>
          <a:ln w="17780"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93391" y="296265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7087" y="3538728"/>
            <a:ext cx="950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after gauge
quotient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697479" y="3118104"/>
            <a:ext cx="301753" cy="0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072384" y="2788920"/>
            <a:ext cx="658368" cy="658368"/>
          </a:xfrm>
          <a:prstGeom prst="ellipse">
            <a:avLst/>
          </a:prstGeom>
          <a:solidFill>
            <a:srgbClr val="10171B"/>
          </a:solidFill>
          <a:ln w="17780"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72384" y="296265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79" y="3538728"/>
            <a:ext cx="950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operational
classes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776472" y="3118104"/>
            <a:ext cx="301752" cy="0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151376" y="2788920"/>
            <a:ext cx="658368" cy="658368"/>
          </a:xfrm>
          <a:prstGeom prst="ellipse">
            <a:avLst/>
          </a:prstGeom>
          <a:solidFill>
            <a:srgbClr val="10171B"/>
          </a:solidFill>
          <a:ln w="17780"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51376" y="296265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5072" y="3538728"/>
            <a:ext cx="950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route states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855464" y="3118104"/>
            <a:ext cx="301752" cy="0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230368" y="2788920"/>
            <a:ext cx="658368" cy="658368"/>
          </a:xfrm>
          <a:prstGeom prst="ellipse">
            <a:avLst/>
          </a:prstGeom>
          <a:solidFill>
            <a:srgbClr val="497F7A"/>
          </a:solidFill>
          <a:ln w="17780"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30368" y="296265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4064" y="3538728"/>
            <a:ext cx="950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fixed terminal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2304288"/>
            <a:ext cx="4572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725B83"/>
                </a:solidFill>
                <a:latin typeface="Aptos"/>
              </a:rPr>
              <a:t>PHYSICAL COMPLETION CHOICE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2761488"/>
            <a:ext cx="1938528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2907792"/>
            <a:ext cx="19385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2F4F5"/>
                </a:solidFill>
                <a:latin typeface="Aptos Display"/>
              </a:rP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2" y="3328416"/>
            <a:ext cx="1792224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preferred exact-POS3 masters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2761488"/>
            <a:ext cx="2194560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32520" y="2907792"/>
            <a:ext cx="2194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2F4F5"/>
                </a:solidFill>
                <a:latin typeface="Aptos Display"/>
              </a:rPr>
              <a:t>224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05672" y="3328416"/>
            <a:ext cx="2048255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exact-transducer masters across 16 physical settings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4370832"/>
            <a:ext cx="43434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Gauge multiplicity does not create new computational states. A broader 336-master nearby family also exists, but changes the first-pass surface and stays out of the main-state count.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" y="5303520"/>
            <a:ext cx="10241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Preferred representative, functional quotient and gauge-expanded physical completions are separate layers of the same model.</a:t>
            </a:r>
          </a:p>
        </p:txBody>
      </p:sp>
      <p:sp>
        <p:nvSpPr>
          <p:cNvPr id="59" name="Vector 038"/>
          <p:cNvSpPr/>
          <p:nvPr/>
        </p:nvSpPr>
        <p:spPr>
          <a:xfrm>
            <a:off x="10147096" y="5940856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ector 039"/>
          <p:cNvSpPr/>
          <p:nvPr/>
        </p:nvSpPr>
        <p:spPr>
          <a:xfrm>
            <a:off x="9831628" y="6255410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19B • HIDDEN STATE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Four bits produce fourteen legal states as two ordinary cubes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For each value of G, the X/Y/Z cube has one forbidden vertex: 011. The Horn clause is Y ∧ Z → 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30428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G = 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3355848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11880" y="3355848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920240" y="5047488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920240" y="3355848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95728" y="2880360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87368" y="2880360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395728" y="4572000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395728" y="2880360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920240" y="288036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611880" y="288036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611880" y="457200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0240" y="457200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888236" y="332384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327355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000</a:t>
            </a:r>
          </a:p>
        </p:txBody>
      </p:sp>
      <p:sp>
        <p:nvSpPr>
          <p:cNvPr id="21" name="Oval 20"/>
          <p:cNvSpPr/>
          <p:nvPr/>
        </p:nvSpPr>
        <p:spPr>
          <a:xfrm>
            <a:off x="3579876" y="332384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27355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100</a:t>
            </a:r>
          </a:p>
        </p:txBody>
      </p:sp>
      <p:sp>
        <p:nvSpPr>
          <p:cNvPr id="23" name="Oval 22"/>
          <p:cNvSpPr/>
          <p:nvPr/>
        </p:nvSpPr>
        <p:spPr>
          <a:xfrm>
            <a:off x="1888236" y="501548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49651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010</a:t>
            </a:r>
          </a:p>
        </p:txBody>
      </p:sp>
      <p:sp>
        <p:nvSpPr>
          <p:cNvPr id="25" name="Oval 24"/>
          <p:cNvSpPr/>
          <p:nvPr/>
        </p:nvSpPr>
        <p:spPr>
          <a:xfrm>
            <a:off x="3579876" y="501548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9651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110</a:t>
            </a:r>
          </a:p>
        </p:txBody>
      </p:sp>
      <p:sp>
        <p:nvSpPr>
          <p:cNvPr id="27" name="Oval 26"/>
          <p:cNvSpPr/>
          <p:nvPr/>
        </p:nvSpPr>
        <p:spPr>
          <a:xfrm>
            <a:off x="2363724" y="28483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1448" y="27980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001</a:t>
            </a:r>
          </a:p>
        </p:txBody>
      </p:sp>
      <p:sp>
        <p:nvSpPr>
          <p:cNvPr id="29" name="Oval 28"/>
          <p:cNvSpPr/>
          <p:nvPr/>
        </p:nvSpPr>
        <p:spPr>
          <a:xfrm>
            <a:off x="4055364" y="28483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33088" y="27980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101</a:t>
            </a:r>
          </a:p>
        </p:txBody>
      </p:sp>
      <p:sp>
        <p:nvSpPr>
          <p:cNvPr id="31" name="Oval 30"/>
          <p:cNvSpPr/>
          <p:nvPr/>
        </p:nvSpPr>
        <p:spPr>
          <a:xfrm>
            <a:off x="2363724" y="4539996"/>
            <a:ext cx="64008" cy="64008"/>
          </a:xfrm>
          <a:prstGeom prst="ellipse">
            <a:avLst/>
          </a:prstGeom>
          <a:noFill/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340864" y="4517136"/>
            <a:ext cx="109728" cy="109728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40864" y="4517136"/>
            <a:ext cx="109728" cy="109728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41448" y="448970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011</a:t>
            </a:r>
          </a:p>
        </p:txBody>
      </p:sp>
      <p:sp>
        <p:nvSpPr>
          <p:cNvPr id="35" name="Oval 34"/>
          <p:cNvSpPr/>
          <p:nvPr/>
        </p:nvSpPr>
        <p:spPr>
          <a:xfrm>
            <a:off x="4055364" y="4539996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33088" y="448970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111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193792"/>
            <a:ext cx="3931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7 legal vertices + 1 forbidden 011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59" y="230428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G = 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269479" y="3355848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61119" y="3355848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269479" y="5047488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269479" y="3355848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44967" y="2880360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436607" y="2880360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7744967" y="4572000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744967" y="2880360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269479" y="288036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961119" y="288036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961119" y="457200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269479" y="457200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7237475" y="332384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199" y="327355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000</a:t>
            </a:r>
          </a:p>
        </p:txBody>
      </p:sp>
      <p:sp>
        <p:nvSpPr>
          <p:cNvPr id="53" name="Oval 52"/>
          <p:cNvSpPr/>
          <p:nvPr/>
        </p:nvSpPr>
        <p:spPr>
          <a:xfrm>
            <a:off x="8929115" y="332384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327355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100</a:t>
            </a:r>
          </a:p>
        </p:txBody>
      </p:sp>
      <p:sp>
        <p:nvSpPr>
          <p:cNvPr id="55" name="Oval 54"/>
          <p:cNvSpPr/>
          <p:nvPr/>
        </p:nvSpPr>
        <p:spPr>
          <a:xfrm>
            <a:off x="7237475" y="501548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199" y="49651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010</a:t>
            </a:r>
          </a:p>
        </p:txBody>
      </p:sp>
      <p:sp>
        <p:nvSpPr>
          <p:cNvPr id="57" name="Oval 56"/>
          <p:cNvSpPr/>
          <p:nvPr/>
        </p:nvSpPr>
        <p:spPr>
          <a:xfrm>
            <a:off x="8929115" y="501548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49651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110</a:t>
            </a:r>
          </a:p>
        </p:txBody>
      </p:sp>
      <p:sp>
        <p:nvSpPr>
          <p:cNvPr id="59" name="Oval 58"/>
          <p:cNvSpPr/>
          <p:nvPr/>
        </p:nvSpPr>
        <p:spPr>
          <a:xfrm>
            <a:off x="7712963" y="28483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90688" y="27980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001</a:t>
            </a:r>
          </a:p>
        </p:txBody>
      </p:sp>
      <p:sp>
        <p:nvSpPr>
          <p:cNvPr id="61" name="Oval 60"/>
          <p:cNvSpPr/>
          <p:nvPr/>
        </p:nvSpPr>
        <p:spPr>
          <a:xfrm>
            <a:off x="9404603" y="28483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82328" y="27980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101</a:t>
            </a:r>
          </a:p>
        </p:txBody>
      </p:sp>
      <p:sp>
        <p:nvSpPr>
          <p:cNvPr id="63" name="Oval 62"/>
          <p:cNvSpPr/>
          <p:nvPr/>
        </p:nvSpPr>
        <p:spPr>
          <a:xfrm>
            <a:off x="7712963" y="4539996"/>
            <a:ext cx="64008" cy="64008"/>
          </a:xfrm>
          <a:prstGeom prst="ellipse">
            <a:avLst/>
          </a:prstGeom>
          <a:noFill/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690103" y="4517136"/>
            <a:ext cx="109728" cy="109728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690103" y="4517136"/>
            <a:ext cx="109728" cy="109728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90688" y="448970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011</a:t>
            </a:r>
          </a:p>
        </p:txBody>
      </p:sp>
      <p:sp>
        <p:nvSpPr>
          <p:cNvPr id="67" name="Oval 66"/>
          <p:cNvSpPr/>
          <p:nvPr/>
        </p:nvSpPr>
        <p:spPr>
          <a:xfrm>
            <a:off x="9404603" y="4539996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82328" y="448970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111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59" y="5193792"/>
            <a:ext cx="3931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7 legal vertices + 1 forbidden 011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01768" y="5596128"/>
            <a:ext cx="2212848" cy="256032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0" y="5623560"/>
            <a:ext cx="21579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7 + 7 = 14 STATES</a:t>
            </a:r>
          </a:p>
        </p:txBody>
      </p:sp>
      <p:sp>
        <p:nvSpPr>
          <p:cNvPr id="72" name="Vector 040"/>
          <p:cNvSpPr/>
          <p:nvPr/>
        </p:nvSpPr>
        <p:spPr>
          <a:xfrm>
            <a:off x="9845344" y="6142024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19A • THREE HUMAN-LEGIBLE STATES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part of the machinery is surprisingly easy to see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sequence 100 → 110 → 111 behaves like a tiny staircase or thermometer code for the three route states.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2834640" cy="2011680"/>
          </a:xfrm>
          <a:prstGeom prst="roundRect">
            <a:avLst>
              <a:gd name="adj" fmla="val 227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5608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5608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02536" y="297180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02536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69464" y="297180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9464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794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first / loopless class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2834640" cy="2011680"/>
          </a:xfrm>
          <a:prstGeom prst="roundRect">
            <a:avLst>
              <a:gd name="adj" fmla="val 227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14416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81344" y="297180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3794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92040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middle state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3880" y="2468880"/>
            <a:ext cx="2834640" cy="2011680"/>
          </a:xfrm>
          <a:prstGeom prst="roundRect">
            <a:avLst>
              <a:gd name="adj" fmla="val 227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9368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26296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6296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793224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93224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95360" y="3794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503920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third state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This does not magically decode the stickers, but it is the kind of small, human-readable structure that makes the machine feel less arbitrary.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749808" y="5623560"/>
            <a:ext cx="10515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100 → 110 → 111 is a human-readable recoding of the route state, not an independent extra state machine.</a:t>
            </a:r>
          </a:p>
        </p:txBody>
      </p:sp>
      <p:sp>
        <p:nvSpPr>
          <p:cNvPr id="35" name="Vector 041"/>
          <p:cNvSpPr/>
          <p:nvPr/>
        </p:nvSpPr>
        <p:spPr>
          <a:xfrm>
            <a:off x="9845344" y="5940856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ector 042"/>
          <p:cNvSpPr/>
          <p:nvPr/>
        </p:nvSpPr>
        <p:spPr>
          <a:xfrm>
            <a:off x="10837468" y="6355994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20 • TWO INTERFACES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observer can recover distinctions the transition logic quotients 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same physical master exposes a causal interface and a richer frozen readout interface.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377440"/>
            <a:ext cx="5074920" cy="265176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2670048"/>
            <a:ext cx="4572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497F7A"/>
                </a:solidFill>
                <a:latin typeface="Aptos Display"/>
              </a:rPr>
              <a:t>CAUSAL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3246120"/>
            <a:ext cx="1097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2F4F5"/>
                </a:solidFill>
                <a:latin typeface="Aptos Display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3328416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E53935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3246120"/>
            <a:ext cx="1097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2F4F5"/>
                </a:solidFill>
                <a:latin typeface="Aptos Display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328416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E53935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246120"/>
            <a:ext cx="914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2F4F5"/>
                </a:solidFill>
                <a:latin typeface="Aptos Display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069080"/>
            <a:ext cx="43434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Selector reuse aliases equal source bits and intentionally discards distinctions.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2377440"/>
            <a:ext cx="5074920" cy="265176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2670048"/>
            <a:ext cx="4572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725B83"/>
                </a:solidFill>
                <a:latin typeface="Aptos Display"/>
              </a:rPr>
              <a:t>FROZEN OBSERVER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172968"/>
            <a:ext cx="41605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2F4F5"/>
                </a:solidFill>
                <a:latin typeface="Courier New"/>
              </a:rPr>
              <a:t>G • X • Y • 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3886200"/>
            <a:ext cx="422452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A minimum readout recovers the four-bit hidden state even where transition logic no longer cares.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358384"/>
            <a:ext cx="10287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This split explains why “the machine has 14 states” and “later stages see fewer distinctions” are both true.</a:t>
            </a:r>
          </a:p>
        </p:txBody>
      </p:sp>
      <p:cxnSp>
        <p:nvCxnSpPr>
          <p:cNvPr id="43" name="Vector 043"/>
          <p:cNvCxnSpPr/>
          <p:nvPr/>
        </p:nvCxnSpPr>
        <p:spPr>
          <a:xfrm flipV="1">
            <a:off x="9834372" y="6332220"/>
            <a:ext cx="54863" cy="54864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Is this just an ornate story?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Build the nearest cheap alternatives, then see how many survive.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  <p:cxnSp>
        <p:nvCxnSpPr>
          <p:cNvPr id="7" name="Vector 044"/>
          <p:cNvCxnSpPr/>
          <p:nvPr/>
        </p:nvCxnSpPr>
        <p:spPr>
          <a:xfrm flipV="1">
            <a:off x="10437876" y="5929883"/>
            <a:ext cx="54863" cy="54865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• HOSTILE COMPARISON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model was put in a cage with its cousins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asking whether the mechanism looks clever, enumerate nearby low-complexity machines that could have fit the same kind of data.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control relations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with the same cardinality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54680" y="2990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p→q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bijections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303520" y="2990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self-labelled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route tables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5236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452360" y="2990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single-defect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selector families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45262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F4F5"/>
                </a:solidFill>
              </a:rPr>
              <a:t>Cartesian universe: 746,496 abstract machines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57400" y="5212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This is a description-length universe, not a probability model for Playdead.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822960" y="4800600"/>
            <a:ext cx="10424160" cy="749808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946904"/>
            <a:ext cx="1002182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Modern hostile test: across all 3⁹ = 19,683 cell-local first-pass depth-offset operations, canonical is the unique maximum-retention route-capable operation. Terminal 100 or even the exact 14 masters alone are not enough.</a:t>
            </a:r>
          </a:p>
        </p:txBody>
      </p:sp>
      <p:sp>
        <p:nvSpPr>
          <p:cNvPr id="28" name="Vector 045"/>
          <p:cNvSpPr/>
          <p:nvPr/>
        </p:nvSpPr>
        <p:spPr>
          <a:xfrm>
            <a:off x="10535716" y="6054242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• COMPRESSION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Only 24 machines match the label-invariant fingerprint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surviving architecture is rare inside the declared sibling grammar.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746496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990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machines in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synthetic parent family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2788920"/>
            <a:ext cx="10972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7492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74920" y="2990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match the full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structural fingerprint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2788920"/>
            <a:ext cx="9601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4108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/ 31,104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64108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code-space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density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4526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F4F5"/>
                </a:solidFill>
              </a:rPr>
              <a:t>≈ 14.9 bits of specification compression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11680" y="52578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Useful MDL bookkeeping. Not a p-value. Not “the odds this was intentional.”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49808" y="5632704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Useful MDL bookkeeping. The later raw-space reconstruction is a stronger anti-overfitting argument.</a:t>
            </a:r>
          </a:p>
        </p:txBody>
      </p:sp>
      <p:cxnSp>
        <p:nvCxnSpPr>
          <p:cNvPr id="27" name="Vector 046"/>
          <p:cNvCxnSpPr/>
          <p:nvPr/>
        </p:nvCxnSpPr>
        <p:spPr>
          <a:xfrm flipV="1">
            <a:off x="10437876" y="6432803"/>
            <a:ext cx="54863" cy="54865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22A • RAW RECONSTRUCTION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Start with the observed constraints, not the solved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A deliberately low-level enumeration reconstructs the same fourteen masters and makes the terminal emerge.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06040"/>
            <a:ext cx="19659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1965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E53935"/>
                </a:solidFill>
                <a:latin typeface="Aptos Display"/>
              </a:rPr>
              <a:t>216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2F4F5"/>
                </a:solidFill>
                <a:latin typeface="Aptos"/>
              </a:rPr>
              <a:t>raw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776472"/>
            <a:ext cx="17465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6 primary payloads × 36 selectors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3547872"/>
            <a:ext cx="292607" cy="0"/>
          </a:xfrm>
          <a:prstGeom prst="line">
            <a:avLst/>
          </a:prstGeom>
          <a:ln w="254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2606040"/>
            <a:ext cx="19659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816352"/>
            <a:ext cx="1965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2F4F5"/>
                </a:solidFill>
                <a:latin typeface="Aptos Display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401568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2F4F5"/>
                </a:solidFill>
                <a:latin typeface="Aptos"/>
              </a:rPr>
              <a:t>after first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3776472"/>
            <a:ext cx="17465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POS3 closure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" y="3547872"/>
            <a:ext cx="384048" cy="0"/>
          </a:xfrm>
          <a:prstGeom prst="line">
            <a:avLst/>
          </a:prstGeom>
          <a:ln w="254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06440" y="2606040"/>
            <a:ext cx="19659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816352"/>
            <a:ext cx="1965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2F4F5"/>
                </a:solidFill>
                <a:latin typeface="Aptos Display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3401568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2F4F5"/>
                </a:solidFill>
                <a:latin typeface="Aptos"/>
              </a:rPr>
              <a:t>after selector reuse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3776472"/>
            <a:ext cx="17465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same master set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18120" y="3547872"/>
            <a:ext cx="429768" cy="0"/>
          </a:xfrm>
          <a:prstGeom prst="line">
            <a:avLst/>
          </a:prstGeom>
          <a:ln w="254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12480" y="2606040"/>
            <a:ext cx="19659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816352"/>
            <a:ext cx="1965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E53935"/>
                </a:solidFill>
                <a:latin typeface="Aptos Display"/>
              </a:rP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401568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2F4F5"/>
                </a:solidFill>
                <a:latin typeface="Aptos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3776472"/>
            <a:ext cx="17465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every survivor agrees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4937760"/>
            <a:ext cx="9646920" cy="731520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5129784"/>
            <a:ext cx="9189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2F4F5"/>
                </a:solidFill>
                <a:latin typeface="Aptos"/>
              </a:rPr>
              <a:t>✓ Boolean generator     ✓ native x/y/p/g implementation     ✓ raw enumerator     → exact same 14 complete masters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5806440"/>
            <a:ext cx="10332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Courier New"/>
              </a:rPr>
              <a:t>Experiments 250–253</a:t>
            </a:r>
          </a:p>
        </p:txBody>
      </p:sp>
      <p:sp>
        <p:nvSpPr>
          <p:cNvPr id="28" name="Vector 047"/>
          <p:cNvSpPr/>
          <p:nvPr/>
        </p:nvSpPr>
        <p:spPr>
          <a:xfrm>
            <a:off x="10247680" y="6644944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22B • Q4 INVERSE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Recover Q4 without feeding the search the Q4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broad inverse search withholds the observed Q4 cell values, the expected core, route words, state count and target terminal.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340864"/>
            <a:ext cx="2240280" cy="129844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487168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E53935"/>
                </a:solidFill>
                <a:latin typeface="Aptos Display"/>
              </a:rPr>
              <a:t>19,683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07792"/>
            <a:ext cx="2093976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abstract ternary selector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340864"/>
            <a:ext cx="2240280" cy="129844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487168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2F4F5"/>
                </a:solidFill>
                <a:latin typeface="Aptos Display"/>
              </a:rPr>
              <a:t>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907792"/>
            <a:ext cx="2093976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possible 3-position control 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0992" y="2340864"/>
            <a:ext cx="2240280" cy="129844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2487168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2F4F5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2907792"/>
            <a:ext cx="2093976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surviving scaffold gauges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340864"/>
            <a:ext cx="3017520" cy="129844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3" y="2487168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2F4F5"/>
                </a:solidFill>
                <a:latin typeface="Aptos Display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907792"/>
            <a:ext cx="2871215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terminal emerges without being supplied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977639"/>
            <a:ext cx="5074920" cy="13533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187952"/>
            <a:ext cx="4599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497F7A"/>
                </a:solidFill>
                <a:latin typeface="Aptos"/>
              </a:rPr>
              <a:t>FUNCTIONAL RECOVERY • Experiment 294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553712"/>
            <a:ext cx="45720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A/D/G core; scaffold 200122 or 220122 (C gauge); seven-state compatibility relation; route shell 120 / 012 / 102.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977639"/>
            <a:ext cx="5074920" cy="13533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4187952"/>
            <a:ext cx="4599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725B83"/>
                </a:solidFill>
                <a:latin typeface="Aptos"/>
              </a:rPr>
              <a:t>PHYSICAL HOLDOUT • Experiment 295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4553712"/>
            <a:ext cx="45720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Held-out Q4 marks + simple shared-codebook symmetry reconstruct /..   ./.   ../. The residual uncertainty is a two-bit printed gauge.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41848"/>
            <a:ext cx="10332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Aptos"/>
              </a:rPr>
              <a:t>This is the anti-circularity showpiece: abstract function first, withheld physical marks second.</a:t>
            </a:r>
          </a:p>
        </p:txBody>
      </p:sp>
      <p:sp>
        <p:nvSpPr>
          <p:cNvPr id="25" name="Vector 048"/>
          <p:cNvSpPr/>
          <p:nvPr/>
        </p:nvSpPr>
        <p:spPr>
          <a:xfrm>
            <a:off x="10837468" y="6557162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ector 049"/>
          <p:cNvSpPr/>
          <p:nvPr/>
        </p:nvSpPr>
        <p:spPr>
          <a:xfrm>
            <a:off x="10851184" y="6644944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• A CLEANER RARITY RESULT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endpoint 100 is unique in the natural selector universe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every one of nine cells choose freely among three source depths: 3⁹ = 19,683 selector fields.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19683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possible direct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selector fields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3375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2990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produce legal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one-hot outputs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43600" y="29900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distinct legal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payloads reachable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5820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458200" y="29900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legal payload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loopless: 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4663440"/>
            <a:ext cx="854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And once the observed Q4 scaffold is restored, every legal selector lands on 100.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49808" y="5632704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A separate direct-selector rarity result. Corroboration, not the sole global uniqueness proof.</a:t>
            </a:r>
          </a:p>
        </p:txBody>
      </p:sp>
      <p:sp>
        <p:nvSpPr>
          <p:cNvPr id="27" name="Vector 050"/>
          <p:cNvSpPr/>
          <p:nvPr/>
        </p:nvSpPr>
        <p:spPr>
          <a:xfrm>
            <a:off x="10448848" y="6041440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• EVIDENCE ANATOMY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stickers split into witnesses and sentries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observations determine the solution family. Many others merely check that the family is not lying.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898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occupied H108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residues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0" y="2898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individually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load-bearing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can be deleted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without changing the family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44348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3935"/>
                </a:solidFill>
              </a:rPr>
              <a:t>But flip one of those 53 and the machine usually dies.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377440" y="516636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They are not useless redundancy. They are consistency alarms.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  <p:sp>
        <p:nvSpPr>
          <p:cNvPr id="26" name="Vector 051"/>
          <p:cNvSpPr/>
          <p:nvPr/>
        </p:nvSpPr>
        <p:spPr>
          <a:xfrm>
            <a:off x="10147096" y="6343192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• MUTATION TEST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grammar tolerates erasure better than corruption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Deleting data often expands uncertainty. Changing data usually breaks the architecture.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2080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all two-observation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flip pairs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344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kill the current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2104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32104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can be absorbed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by some legal completion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46177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F5"/>
                </a:solidFill>
              </a:rPr>
              <a:t>That is not a formal error-correcting code claim.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28800" y="52303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6B0B5"/>
                </a:solidFill>
              </a:rPr>
              <a:t>The measured behavior is simpler: brittle to mutation, surprisingly tolerant of missing cells.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sp>
        <p:nvSpPr>
          <p:cNvPr id="26" name="Vector 052"/>
          <p:cNvSpPr/>
          <p:nvPr/>
        </p:nvSpPr>
        <p:spPr>
          <a:xfrm>
            <a:off x="9945928" y="5840272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26 • HUMAN-SCALE SOLVE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Different witnesses answer different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corpus is larger than the mechanism needs, but “minimum” depends on what exactly is being proved.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423160"/>
            <a:ext cx="33375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2569464"/>
            <a:ext cx="3337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 i="0">
                <a:solidFill>
                  <a:srgbClr val="E53935"/>
                </a:solidFill>
                <a:latin typeface="Aptos Display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990088"/>
            <a:ext cx="3191256" cy="1252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logical cells • shortest direct endpoint witness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2423160"/>
            <a:ext cx="33375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569464"/>
            <a:ext cx="3337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 i="0">
                <a:solidFill>
                  <a:srgbClr val="F2F4F5"/>
                </a:solidFill>
                <a:latin typeface="Aptos Display"/>
              </a:rPr>
              <a:t>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2990088"/>
            <a:ext cx="3191256" cy="1252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logical cells • full staged reconstruction witness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2423160"/>
            <a:ext cx="33375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2569464"/>
            <a:ext cx="3337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 i="0">
                <a:solidFill>
                  <a:srgbClr val="F2F4F5"/>
                </a:solidFill>
                <a:latin typeface="Aptos Display"/>
              </a:rPr>
              <a:t>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2" y="2990088"/>
            <a:ext cx="3191256" cy="1252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observed primary residues • minimum raw-primary forcing witness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88720" y="4782312"/>
            <a:ext cx="9738360" cy="768096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44752" y="4983480"/>
            <a:ext cx="921715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These are complementary certificates. None requires a new sticker; future finds mostly validate, choose printed gauges, or try to falsify the architecture.</a:t>
            </a:r>
          </a:p>
        </p:txBody>
      </p:sp>
      <p:cxnSp>
        <p:nvCxnSpPr>
          <p:cNvPr id="41" name="Vector 053"/>
          <p:cNvCxnSpPr/>
          <p:nvPr/>
        </p:nvCxnSpPr>
        <p:spPr>
          <a:xfrm flipV="1">
            <a:off x="10437876" y="6231636"/>
            <a:ext cx="54863" cy="54864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Vector 054"/>
          <p:cNvCxnSpPr/>
          <p:nvPr/>
        </p:nvCxnSpPr>
        <p:spPr>
          <a:xfrm flipV="1">
            <a:off x="10840212" y="6231636"/>
            <a:ext cx="54864" cy="54864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26A • PAPER &amp; PENCIL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A plausible human route reaches the same machine with tiny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search is not “try every cipher.” Each step is a small local question suggested by the physical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E53935"/>
                </a:solidFill>
                <a:latin typeface="Aptos Display"/>
              </a:rPr>
              <a:t>H108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register repeats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92224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93392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56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12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A–I frames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8688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19856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9 + 3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split vocabulary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45152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46320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1183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POS3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position encodes trit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71616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72784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read depth selector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80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99248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(q,S)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only useful copy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24544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25711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reuse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8863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20 → 14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51007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552176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0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E53935"/>
                </a:solidFill>
                <a:latin typeface="Aptos Display"/>
              </a:rP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5328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fixed terminal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526280"/>
            <a:ext cx="10561320" cy="969264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" y="4718304"/>
            <a:ext cx="1007668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Literal coordinate-copy audit: (q,q) ignores the selector; (S,q) dies; (S,S) collapses the outer q; only (q,S) is selector-sensitive, q-preserving and nondegenerate. Then q=S on the remaining coordinate uniquely performs 20→14→100.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687568"/>
            <a:ext cx="10058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Experiment 293 supplies a weaker composite POS3 parent as a side route, not a shorter discovery path.</a:t>
            </a:r>
          </a:p>
        </p:txBody>
      </p:sp>
      <p:sp>
        <p:nvSpPr>
          <p:cNvPr id="40" name="Vector 055"/>
          <p:cNvSpPr/>
          <p:nvPr/>
        </p:nvSpPr>
        <p:spPr>
          <a:xfrm>
            <a:off x="10147096" y="6644944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27 • FUTURE OBSERVATIONS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What a new sticker would still tell 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mechanical crack no longer depends on a future find. New observations now discriminate layers of the model rather than rescue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2404872"/>
            <a:ext cx="4983480" cy="1188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7" y="260604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97F7A"/>
                </a:solidFill>
                <a:latin typeface="Aptos"/>
              </a:rPr>
              <a:t>HIDDEN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2569464"/>
            <a:ext cx="303580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resolve a latent X/Y/Z/G distinction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3209544"/>
            <a:ext cx="30358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6B0B5"/>
                </a:solidFill>
                <a:latin typeface="Aptos"/>
              </a:rPr>
              <a:t>state information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9048" y="2404872"/>
            <a:ext cx="4983480" cy="1188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260604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725B83"/>
                </a:solidFill>
                <a:latin typeface="Aptos"/>
              </a:rPr>
              <a:t>PRINTED GAUGE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4968" y="2569464"/>
            <a:ext cx="303580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choose between A/C or primary completion gauges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968" y="3209544"/>
            <a:ext cx="30358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6B0B5"/>
                </a:solidFill>
                <a:latin typeface="Aptos"/>
              </a:rPr>
              <a:t>artwork convention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3886200"/>
            <a:ext cx="4983480" cy="1188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7" y="4087368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Aptos"/>
              </a:rPr>
              <a:t>ARCHITECTURE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95728" y="4050791"/>
            <a:ext cx="303580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hit a load-bearing residue and try to falsify the machine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95728" y="4690872"/>
            <a:ext cx="30358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6B0B5"/>
                </a:solidFill>
                <a:latin typeface="Aptos"/>
              </a:rPr>
              <a:t>strong test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9048" y="3886200"/>
            <a:ext cx="4983480" cy="1188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4087368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08742"/>
                </a:solidFill>
                <a:latin typeface="Aptos"/>
              </a:rPr>
              <a:t>HISTORICAL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44968" y="4050791"/>
            <a:ext cx="303580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check a prediction frozen before the observation surfaced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968" y="4690872"/>
            <a:ext cx="30358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6B0B5"/>
                </a:solidFill>
                <a:latin typeface="Aptos"/>
              </a:rPr>
              <a:t>external 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623560"/>
            <a:ext cx="10469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Important correction: A/C residues are not universal falsifiers. Those stacks are known printed-polarity gauges unless an authoring symmetry is imposed.</a:t>
            </a:r>
          </a:p>
        </p:txBody>
      </p:sp>
      <p:sp>
        <p:nvSpPr>
          <p:cNvPr id="47" name="Vector 056"/>
          <p:cNvSpPr/>
          <p:nvPr/>
        </p:nvSpPr>
        <p:spPr>
          <a:xfrm>
            <a:off x="9932212" y="6054242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Vector 057"/>
          <p:cNvCxnSpPr/>
          <p:nvPr/>
        </p:nvCxnSpPr>
        <p:spPr>
          <a:xfrm flipV="1">
            <a:off x="10639044" y="6633972"/>
            <a:ext cx="54863" cy="54864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27A • A USEFUL SMELL TEST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stronger story kept removing choices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became the simplest way to tell genuine structure from seductive overreading.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754880" cy="2743200"/>
          </a:xfrm>
          <a:prstGeom prst="roundRect">
            <a:avLst>
              <a:gd name="adj" fmla="val 166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53935"/>
                </a:solidFill>
              </a:rPr>
              <a:t>GOOD 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40690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new constraint explains several older observations at once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rival family gets eliminated automatically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The same endpoint appears through more than one path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The model gets smaller as it gets stronger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4754880" cy="2743200"/>
          </a:xfrm>
          <a:prstGeom prst="roundRect">
            <a:avLst>
              <a:gd name="adj" fmla="val 166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F4F5"/>
                </a:solidFill>
              </a:rPr>
              <a:t>WARNING 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971800"/>
            <a:ext cx="4023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reading only works after one more discretionary choice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nice-looking word appears, but nothing in the machine selects it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pattern survives only because orientation or polarity stays free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The story gets prettier, but not tighter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50468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A6B0B5"/>
                </a:solidFill>
              </a:rPr>
              <a:t>That is why MIL / MIX / MISS / XML remain memorable, but the routing / selector mechanism remains the live explanation.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  <p:sp>
        <p:nvSpPr>
          <p:cNvPr id="26" name="Vector 058"/>
          <p:cNvSpPr/>
          <p:nvPr/>
        </p:nvSpPr>
        <p:spPr>
          <a:xfrm>
            <a:off x="10837468" y="6054242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3a299de8be00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What survived, and what did not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The good ideas increasingly remove choices. The seductive ones require extra choices.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  <p:sp>
        <p:nvSpPr>
          <p:cNvPr id="7" name="Vector 059"/>
          <p:cNvSpPr/>
          <p:nvPr/>
        </p:nvSpPr>
        <p:spPr>
          <a:xfrm>
            <a:off x="10636300" y="5853074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• FALSE LEADS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Several attractive readings failed the “remove choices” test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remain part of the history, but not part of the active mechanism.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XML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requires a state the recursive machine forbids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249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724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MIX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7249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one semantic completion among several; nothing selects 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300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3009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MISS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3009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depends on free Braille polarity; later S is not independent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8770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8770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621 / 648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387705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interesting production arithmetic, no transition compression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4531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453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self-indexing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4453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cute observer coincidence, not a causal rule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5029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029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direct plaintext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5029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no earned transform from current terminal 100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5715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</a:rPr>
              <a:t>The current machine keeps becoming simpler as it gets stronger.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  <p:sp>
        <p:nvSpPr>
          <p:cNvPr id="26" name="Vector 060"/>
          <p:cNvSpPr/>
          <p:nvPr/>
        </p:nvSpPr>
        <p:spPr>
          <a:xfrm>
            <a:off x="10247680" y="6242608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29 • WHAT I THINK I KNOW NOW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closed-corpus mechanical crack is substantially complete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remaining uncertainty is mostly about physical gauge choice and what, if anything, consumes the terminal outside the sticker machine.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2267712"/>
            <a:ext cx="6675120" cy="3328416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2487168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H108 carrier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5184" y="2487168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observed recurrence and registered 108-cell object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2971800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Positional primitive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15184" y="2971800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primary columns and Q4 stacks encode ternary position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3456432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Raw reconstruction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15184" y="3456432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216 → 20 → 14 without starting from the solved machine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3941064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Routing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3941064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120 / 012 / 102 is recovered as the unique distinct-permutation shell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4425696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Terminal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15184" y="4425696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100 is the fixed point; 102 siblings are a two-cycle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4910328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Observer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5184" y="4910328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frozen readout recovers the four-bit hidden state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99248" y="2267712"/>
            <a:ext cx="3438144" cy="1554480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36992" y="2523744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725B83"/>
                </a:solidFill>
                <a:latin typeface="Aptos"/>
              </a:rPr>
              <a:t>PREFERRED PHYSICAL CHOICES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2926080"/>
            <a:ext cx="2889504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2F4F5"/>
                </a:solidFill>
                <a:latin typeface="Aptos"/>
              </a:rPr>
              <a:t>Exact-POS3 zero gauge
All-slash Q4 gauge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99248" y="4041648"/>
            <a:ext cx="3438144" cy="1554480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36992" y="429768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B08742"/>
                </a:solidFill>
                <a:latin typeface="Aptos"/>
              </a:rPr>
              <a:t>STILL OPEN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700016"/>
            <a:ext cx="2889504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2F4F5"/>
                </a:solidFill>
                <a:latin typeface="Aptos"/>
              </a:rPr>
              <a:t>External consumer
semantic payload / ARG role</a:t>
            </a:r>
          </a:p>
        </p:txBody>
      </p:sp>
      <p:sp>
        <p:nvSpPr>
          <p:cNvPr id="49" name="Vector 061"/>
          <p:cNvSpPr/>
          <p:nvPr/>
        </p:nvSpPr>
        <p:spPr>
          <a:xfrm>
            <a:off x="10435132" y="5853074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ector 062"/>
          <p:cNvSpPr/>
          <p:nvPr/>
        </p:nvSpPr>
        <p:spPr>
          <a:xfrm>
            <a:off x="10435132" y="6154826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30 • WHAT 100 IS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100 is mechanically precise without being plaintext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machine tells us exactly what the terminal is inside its own coordinate system. It does not tell us how an external system should read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2331720"/>
            <a:ext cx="5102352" cy="294436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2596896"/>
            <a:ext cx="459028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497F7A"/>
                </a:solidFill>
                <a:latin typeface="Aptos"/>
              </a:rPr>
              <a:t>ESTABLISHED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3090672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• frame 9 / normalized ternary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483864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• raw pattern ---//////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3877056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• invariant terminal of all 14 raw-reconstructed survivors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4270248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• fixed point under continued selector reuse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663440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• loopless / derangement certificate in the route shell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2331720"/>
            <a:ext cx="5102352" cy="294436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6" y="2596896"/>
            <a:ext cx="459028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B08742"/>
                </a:solidFill>
                <a:latin typeface="Aptos"/>
              </a:rPr>
              <a:t>NOT ESTABLISHED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3090672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• plaintext or a word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3483864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• URL or geolocation by itself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3877056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• a lore phrase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4270248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• a known standard error-correcting 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4663440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• a confirmed external ARG consumer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05272"/>
            <a:ext cx="10469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An external clue could still tell us how to consume 100. It would be downstream of the mechanical crack, not a missing step inside it.</a:t>
            </a:r>
          </a:p>
        </p:txBody>
      </p:sp>
      <p:sp>
        <p:nvSpPr>
          <p:cNvPr id="45" name="Vector 063"/>
          <p:cNvSpPr/>
          <p:nvPr/>
        </p:nvSpPr>
        <p:spPr>
          <a:xfrm>
            <a:off x="10549432" y="6644944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31 • WHERE THE MYSTERY STANDS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machine is decoded; the external meaning is still open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Those are now two branches, not one progress bar pretending every uncertainty is the same kind.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051560" y="3209544"/>
            <a:ext cx="1389888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observed</a:t>
            </a:r>
          </a:p>
        </p:txBody>
      </p:sp>
      <p:sp>
        <p:nvSpPr>
          <p:cNvPr id="33" name="Oval 32"/>
          <p:cNvSpPr/>
          <p:nvPr/>
        </p:nvSpPr>
        <p:spPr>
          <a:xfrm>
            <a:off x="24688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651760" y="3209544"/>
            <a:ext cx="1389888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2402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normalized</a:t>
            </a:r>
          </a:p>
        </p:txBody>
      </p:sp>
      <p:sp>
        <p:nvSpPr>
          <p:cNvPr id="36" name="Oval 35"/>
          <p:cNvSpPr/>
          <p:nvPr/>
        </p:nvSpPr>
        <p:spPr>
          <a:xfrm>
            <a:off x="40690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251960" y="3209544"/>
            <a:ext cx="1389888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8404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carrier</a:t>
            </a:r>
          </a:p>
        </p:txBody>
      </p:sp>
      <p:sp>
        <p:nvSpPr>
          <p:cNvPr id="39" name="Oval 38"/>
          <p:cNvSpPr/>
          <p:nvPr/>
        </p:nvSpPr>
        <p:spPr>
          <a:xfrm>
            <a:off x="56692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852160" y="3209544"/>
            <a:ext cx="1389888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406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grammar</a:t>
            </a:r>
          </a:p>
        </p:txBody>
      </p:sp>
      <p:sp>
        <p:nvSpPr>
          <p:cNvPr id="42" name="Oval 41"/>
          <p:cNvSpPr/>
          <p:nvPr/>
        </p:nvSpPr>
        <p:spPr>
          <a:xfrm>
            <a:off x="72694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7452360" y="3209544"/>
            <a:ext cx="1389888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408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transducer</a:t>
            </a:r>
          </a:p>
        </p:txBody>
      </p:sp>
      <p:sp>
        <p:nvSpPr>
          <p:cNvPr id="45" name="Oval 44"/>
          <p:cNvSpPr/>
          <p:nvPr/>
        </p:nvSpPr>
        <p:spPr>
          <a:xfrm>
            <a:off x="88696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052559" y="3209544"/>
            <a:ext cx="1389889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6410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terminal</a:t>
            </a:r>
          </a:p>
        </p:txBody>
      </p:sp>
      <p:sp>
        <p:nvSpPr>
          <p:cNvPr id="48" name="Oval 47"/>
          <p:cNvSpPr/>
          <p:nvPr/>
        </p:nvSpPr>
        <p:spPr>
          <a:xfrm>
            <a:off x="10469880" y="3127248"/>
            <a:ext cx="164592" cy="164592"/>
          </a:xfrm>
          <a:prstGeom prst="ellipse">
            <a:avLst/>
          </a:prstGeom>
          <a:solidFill>
            <a:srgbClr val="071014"/>
          </a:solidFill>
          <a:ln w="17780">
            <a:solidFill>
              <a:srgbClr val="5E6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41280" y="3493008"/>
            <a:ext cx="14173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A6B0B5"/>
                </a:solidFill>
                <a:latin typeface="Aptos"/>
              </a:rPr>
              <a:t>external consumer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17320" y="4343400"/>
            <a:ext cx="9281160" cy="987552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91640" y="4553712"/>
            <a:ext cx="8732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F2F4F5"/>
                </a:solidFill>
                <a:latin typeface="Aptos"/>
              </a:rPr>
              <a:t>Mechanical transducer: substantially complete on the closed corpus.
Semantic / external consumer: unresolved, and now cleanly quarantined from the mechanism.</a:t>
            </a:r>
          </a:p>
        </p:txBody>
      </p:sp>
      <p:sp>
        <p:nvSpPr>
          <p:cNvPr id="52" name="Vector 064"/>
          <p:cNvSpPr/>
          <p:nvPr/>
        </p:nvSpPr>
        <p:spPr>
          <a:xfrm>
            <a:off x="9831628" y="6657746"/>
            <a:ext cx="60350" cy="7315"/>
          </a:xfrm>
          <a:prstGeom prst="rect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32 • WHY THIS MATTERS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community already had enough data to recover the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That turns the Collector’s Edition sticker problem from a scavenger hunt into a reverse-engineering problem with a reproducible mechanical answer.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2514600"/>
            <a:ext cx="4846320" cy="242316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2788920"/>
            <a:ext cx="4297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A6B0B5"/>
                </a:solidFill>
                <a:latin typeface="Aptos"/>
              </a:rPr>
              <a:t>OLD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456432"/>
            <a:ext cx="4206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2F4F5"/>
                </a:solidFill>
                <a:latin typeface="Aptos Display"/>
              </a:rPr>
              <a:t>How many more stickers do we need?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2514600"/>
            <a:ext cx="4846320" cy="242316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788920"/>
            <a:ext cx="4297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E53935"/>
                </a:solidFill>
                <a:latin typeface="Aptos"/>
              </a:rPr>
              <a:t>CURRENT 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337560"/>
            <a:ext cx="4169663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2F4F5"/>
                </a:solidFill>
                <a:latin typeface="Aptos Display"/>
              </a:rPr>
              <a:t>What external system, if any, consumes the reconstructed terminal 100?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440680"/>
            <a:ext cx="10378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Future finds still matter most as falsification, gauge selection and historical validation.</a:t>
            </a:r>
          </a:p>
        </p:txBody>
      </p:sp>
      <p:cxnSp>
        <p:nvCxnSpPr>
          <p:cNvPr id="37" name="Vector 065"/>
          <p:cNvCxnSpPr/>
          <p:nvPr/>
        </p:nvCxnSpPr>
        <p:spPr>
          <a:xfrm flipV="1">
            <a:off x="10136124" y="6533388"/>
            <a:ext cx="54863" cy="54864"/>
          </a:xfrm>
          <a:prstGeom prst="line">
            <a:avLst/>
          </a:prstGeom>
          <a:ln w="7620">
            <a:solidFill>
              <a:srgbClr val="D2D6DC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APPENDIX • SOURCES &amp; SCOPE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What this presentation is built from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A public-facing synthesis of the sticker-code investigation, not a technical manual and not a claim that the external ARG meaning is solved.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2240280"/>
            <a:ext cx="10497312" cy="349300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2514600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• Public foundation • twinysam/INSIDE-ARG sticker ledger, ARG chronology and community provenance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2889504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4F5"/>
                </a:solidFill>
                <a:latin typeface="Aptos"/>
              </a:rPr>
              <a:t>• Canonical repo • gamesbyian/GRA-EDISNI; current main through Experiment 291 at build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3264408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4F5"/>
                </a:solidFill>
                <a:latin typeface="Aptos"/>
              </a:rPr>
              <a:t>• Live research incorporated with explicit provisional status • PR #31 / Exp 293; PR #32 / Exp 292, 294–295; PR #34 / Exp 296–298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363931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4F5"/>
                </a:solidFill>
                <a:latin typeface="Aptos"/>
              </a:rPr>
              <a:t>• Executable handoff • data/machine-spec.json, theorem graph, proof obligations and raw enumerators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4014215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• Independent equivalence • raw reconstruction, Boolean generator and native x/y/p/g implementation converge on the same 14 masters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4389120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• Gauge discipline • preferred physical representatives are separated from functional state counts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4764024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• Boundary • H108 geometry and terminal 100 are mechanical claims; plaintext / lore / external consumer remain unresolved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5138927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• Updated public supplements • verification workbook carries claims, evidence records, experiment frontier, witnesses, gauges and reproduction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870448"/>
            <a:ext cx="10378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Courier New"/>
              </a:rPr>
              <a:t>Build date: 2026-09-29 • Closed-corpus mechanical status; external semantic consumer still open.</a:t>
            </a:r>
          </a:p>
        </p:txBody>
      </p:sp>
      <p:sp>
        <p:nvSpPr>
          <p:cNvPr id="40" name="Vector 066"/>
          <p:cNvSpPr/>
          <p:nvPr/>
        </p:nvSpPr>
        <p:spPr>
          <a:xfrm>
            <a:off x="9945928" y="5940856"/>
            <a:ext cx="32918" cy="32918"/>
          </a:xfrm>
          <a:prstGeom prst="ellipse">
            <a:avLst/>
          </a:prstGeom>
          <a:solidFill>
            <a:srgbClr val="D2D6DC">
              <a:alpha val="13000"/>
            </a:srgbClr>
          </a:solidFill>
          <a:ln w="7620">
            <a:solidFill>
              <a:srgbClr val="D2D6DC">
                <a:alpha val="1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Collector’s Edition Sticker Mystery — What I found, and what it might mean</dc:title>
  <dc:subject>INSIDE Collector’s Edition Sticker Mystery</dc:subject>
  <dc:creator>OpenAI</dc:creator>
  <cp:lastModifiedBy>OpenAI</cp:lastModifiedBy>
  <cp:revision>1</cp:revision>
  <dcterms:created xsi:type="dcterms:W3CDTF">2026-09-29T00:57:55Z</dcterms:created>
  <dcterms:modified xsi:type="dcterms:W3CDTF">2026-09-29T00:57:55Z</dcterms:modified>
  <cp:keywords>INSIDE, sticker mystery, register, ternary, overlay</cp:keywords>
  <dc:description>Sparse marks sometimes say a little more when views are put into register.</dc:description>
  <cp:category>Presentation</cp:category>
  <cp:contentStatus>Updated 2026-09-29</cp:contentStatus>
</cp:coreProperties>
</file>